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luster NOTIFY"/>
          <p:cNvSpPr/>
          <p:nvPr/>
        </p:nvSpPr>
        <p:spPr>
          <a:xfrm>
            <a:off x="4119641" y="5476147"/>
            <a:ext cx="3952718" cy="1037238"/>
          </a:xfrm>
          <a:prstGeom prst="roundRect">
            <a:avLst>
              <a:gd name="adj" fmla="val 5844"/>
            </a:avLst>
          </a:prstGeom>
          <a:solidFill>
            <a:srgbClr val="FFFFDE"/>
          </a:solidFill>
          <a:ln w="12700">
            <a:solidFill>
              <a:srgbClr val="AAAA33"/>
            </a:solidFill>
          </a:ln>
        </p:spPr>
        <p:txBody>
          <a:bodyPr rtlCol="0" anchor="t" lIns="18288" tIns="9144" rIns="18288" bIns="9144"/>
          <a:lstStyle/>
          <a:p>
            <a:pPr algn="ctr">
              <a:lnSpc>
                <a:spcPct val="150000"/>
              </a:lnSpc>
            </a:pPr>
            <a:r>
              <a:rPr lang="ja-JP" altLang="en-US" sz="1100">
                <a:solidFill>
                  <a:srgbClr val="333333"/>
                </a:solidFill>
                <a:latin typeface="Noto Sans JP"/>
                <a:ea typeface="Noto Sans JP"/>
              </a:rPr>
              <a:t>通知基盤</a:t>
            </a:r>
          </a:p>
        </p:txBody>
      </p:sp>
      <p:sp>
        <p:nvSpPr>
          <p:cNvPr id="3" name="REQ"/>
          <p:cNvSpPr/>
          <p:nvPr/>
        </p:nvSpPr>
        <p:spPr>
          <a:xfrm>
            <a:off x="4850599" y="344615"/>
            <a:ext cx="1511342" cy="474491"/>
          </a:xfrm>
          <a:prstGeom prst="roundRect">
            <a:avLst/>
          </a:prstGeom>
          <a:solidFill>
            <a:srgbClr val="E7EEFB"/>
          </a:solidFill>
          <a:ln w="12700">
            <a:solidFill>
              <a:srgbClr val="5B7FD0"/>
            </a:solidFill>
          </a:ln>
        </p:spPr>
        <p:txBody>
          <a:bodyPr rtlCol="0" anchor="ctr" lIns="18288" tIns="9144" rIns="18288" bIns="9144"/>
          <a:lstStyle/>
          <a:p>
            <a:pPr algn="ctr">
              <a:lnSpc>
                <a:spcPct val="150000"/>
              </a:lnSpc>
            </a:pPr>
            <a:r>
              <a:rPr lang="ja-JP" altLang="en-US" sz="1100">
                <a:solidFill>
                  <a:srgbClr val="1A1A1A"/>
                </a:solidFill>
                <a:latin typeface="Noto Sans JP"/>
                <a:ea typeface="Noto Sans JP"/>
              </a:rPr>
              <a:t>申込リクエスト</a:t>
            </a:r>
          </a:p>
        </p:txBody>
      </p:sp>
      <p:sp>
        <p:nvSpPr>
          <p:cNvPr id="4" name="CHECK"/>
          <p:cNvSpPr/>
          <p:nvPr/>
        </p:nvSpPr>
        <p:spPr>
          <a:xfrm>
            <a:off x="4846205" y="1258449"/>
            <a:ext cx="1528915" cy="1528915"/>
          </a:xfrm>
          <a:prstGeom prst="diamond">
            <a:avLst/>
          </a:prstGeom>
          <a:solidFill>
            <a:srgbClr val="FFF3CD"/>
          </a:solidFill>
          <a:ln w="12700">
            <a:solidFill>
              <a:srgbClr val="E0A800"/>
            </a:solidFill>
          </a:ln>
        </p:spPr>
        <p:txBody>
          <a:bodyPr rtlCol="0" anchor="ctr" lIns="18288" tIns="9144" rIns="18288" bIns="9144"/>
          <a:lstStyle/>
          <a:p>
            <a:pPr algn="ctr">
              <a:lnSpc>
                <a:spcPct val="150000"/>
              </a:lnSpc>
            </a:pPr>
            <a:r>
              <a:rPr lang="ja-JP" altLang="en-US" sz="1100">
                <a:solidFill>
                  <a:srgbClr val="5A4500"/>
                </a:solidFill>
                <a:latin typeface="Noto Sans JP"/>
                <a:ea typeface="Noto Sans JP"/>
              </a:rPr>
              <a:t>審査</a:t>
            </a:r>
          </a:p>
          <a:p>
            <a:pPr algn="ctr">
              <a:lnSpc>
                <a:spcPct val="150000"/>
              </a:lnSpc>
            </a:pPr>
            <a:r>
              <a:rPr lang="ja-JP" altLang="en-US" sz="1100">
                <a:solidFill>
                  <a:srgbClr val="5A4500"/>
                </a:solidFill>
                <a:latin typeface="Noto Sans JP"/>
                <a:ea typeface="Noto Sans JP"/>
              </a:rPr>
              <a:t>スコアリング</a:t>
            </a:r>
          </a:p>
        </p:txBody>
      </p:sp>
      <p:sp>
        <p:nvSpPr>
          <p:cNvPr id="5" name="ISSUE"/>
          <p:cNvSpPr/>
          <p:nvPr/>
        </p:nvSpPr>
        <p:spPr>
          <a:xfrm>
            <a:off x="4494730" y="4562312"/>
            <a:ext cx="1089572" cy="474491"/>
          </a:xfrm>
          <a:prstGeom prst="roundRect">
            <a:avLst/>
          </a:prstGeom>
          <a:solidFill>
            <a:srgbClr val="E6F4EA"/>
          </a:solidFill>
          <a:ln w="12700">
            <a:solidFill>
              <a:srgbClr val="4C9A2A"/>
            </a:solidFill>
          </a:ln>
        </p:spPr>
        <p:txBody>
          <a:bodyPr rtlCol="0" anchor="ctr" lIns="18288" tIns="9144" rIns="18288" bIns="9144"/>
          <a:lstStyle/>
          <a:p>
            <a:pPr algn="ctr">
              <a:lnSpc>
                <a:spcPct val="150000"/>
              </a:lnSpc>
            </a:pPr>
            <a:r>
              <a:rPr lang="ja-JP" altLang="en-US" sz="1100">
                <a:solidFill>
                  <a:srgbClr val="1A4314"/>
                </a:solidFill>
                <a:latin typeface="Noto Sans JP"/>
                <a:ea typeface="Noto Sans JP"/>
              </a:rPr>
              <a:t>契約発行</a:t>
            </a:r>
          </a:p>
        </p:txBody>
      </p:sp>
      <p:sp>
        <p:nvSpPr>
          <p:cNvPr id="6" name="MANUAL"/>
          <p:cNvSpPr/>
          <p:nvPr/>
        </p:nvSpPr>
        <p:spPr>
          <a:xfrm>
            <a:off x="5027709" y="3437593"/>
            <a:ext cx="1370752" cy="474491"/>
          </a:xfrm>
          <a:prstGeom prst="roundRect">
            <a:avLst/>
          </a:prstGeom>
          <a:solidFill>
            <a:srgbClr val="FDEBD0"/>
          </a:solidFill>
          <a:ln w="12700">
            <a:solidFill>
              <a:srgbClr val="E67E22"/>
            </a:solidFill>
          </a:ln>
        </p:spPr>
        <p:txBody>
          <a:bodyPr rtlCol="0" anchor="ctr" lIns="18288" tIns="9144" rIns="18288" bIns="9144"/>
          <a:lstStyle/>
          <a:p>
            <a:pPr algn="ctr">
              <a:lnSpc>
                <a:spcPct val="150000"/>
              </a:lnSpc>
            </a:pPr>
            <a:r>
              <a:rPr lang="ja-JP" altLang="en-US" sz="1100">
                <a:solidFill>
                  <a:srgbClr val="6E2C00"/>
                </a:solidFill>
                <a:latin typeface="Noto Sans JP"/>
                <a:ea typeface="Noto Sans JP"/>
              </a:rPr>
              <a:t>人手レビュー</a:t>
            </a:r>
          </a:p>
        </p:txBody>
      </p:sp>
      <p:sp>
        <p:nvSpPr>
          <p:cNvPr id="7" name="REJECT"/>
          <p:cNvSpPr/>
          <p:nvPr/>
        </p:nvSpPr>
        <p:spPr>
          <a:xfrm>
            <a:off x="6499510" y="4562312"/>
            <a:ext cx="1089572" cy="474491"/>
          </a:xfrm>
          <a:prstGeom prst="roundRect">
            <a:avLst/>
          </a:prstGeom>
          <a:solidFill>
            <a:srgbClr val="F8D7DA"/>
          </a:solidFill>
          <a:ln w="12700">
            <a:solidFill>
              <a:srgbClr val="D9534F"/>
            </a:solidFill>
          </a:ln>
        </p:spPr>
        <p:txBody>
          <a:bodyPr rtlCol="0" anchor="ctr" lIns="18288" tIns="9144" rIns="18288" bIns="9144"/>
          <a:lstStyle/>
          <a:p>
            <a:pPr algn="ctr">
              <a:lnSpc>
                <a:spcPct val="150000"/>
              </a:lnSpc>
            </a:pPr>
            <a:r>
              <a:rPr lang="ja-JP" altLang="en-US" sz="1100">
                <a:solidFill>
                  <a:srgbClr val="7A1A1A"/>
                </a:solidFill>
                <a:latin typeface="Noto Sans JP"/>
                <a:ea typeface="Noto Sans JP"/>
              </a:rPr>
              <a:t>否決通知</a:t>
            </a:r>
          </a:p>
        </p:txBody>
      </p:sp>
      <p:sp>
        <p:nvSpPr>
          <p:cNvPr id="8" name="MAIL"/>
          <p:cNvSpPr/>
          <p:nvPr/>
        </p:nvSpPr>
        <p:spPr>
          <a:xfrm>
            <a:off x="4427181" y="5757520"/>
            <a:ext cx="1224670" cy="474491"/>
          </a:xfrm>
          <a:prstGeom prst="roundRect">
            <a:avLst/>
          </a:prstGeom>
          <a:solidFill>
            <a:srgbClr val="EEEEEE"/>
          </a:solidFill>
          <a:ln w="12700">
            <a:solidFill>
              <a:srgbClr val="888888"/>
            </a:solidFill>
          </a:ln>
        </p:spPr>
        <p:txBody>
          <a:bodyPr rtlCol="0" anchor="ctr" lIns="18288" tIns="9144" rIns="18288" bIns="9144"/>
          <a:lstStyle/>
          <a:p>
            <a:pPr algn="ctr">
              <a:lnSpc>
                <a:spcPct val="150000"/>
              </a:lnSpc>
            </a:pPr>
            <a:r>
              <a:rPr lang="ja-JP" altLang="en-US" sz="1100">
                <a:solidFill>
                  <a:srgbClr val="333333"/>
                </a:solidFill>
                <a:latin typeface="Noto Sans JP"/>
                <a:ea typeface="Noto Sans JP"/>
              </a:rPr>
              <a:t>メール送信</a:t>
            </a:r>
          </a:p>
        </p:txBody>
      </p:sp>
      <p:sp>
        <p:nvSpPr>
          <p:cNvPr id="9" name="LOG"/>
          <p:cNvSpPr/>
          <p:nvPr/>
        </p:nvSpPr>
        <p:spPr>
          <a:xfrm>
            <a:off x="7070656" y="5695818"/>
            <a:ext cx="694163" cy="597895"/>
          </a:xfrm>
          <a:prstGeom prst="can">
            <a:avLst>
              <a:gd name="adj" fmla="val 28456"/>
            </a:avLst>
          </a:prstGeom>
          <a:solidFill>
            <a:srgbClr val="EEEEEE"/>
          </a:solidFill>
          <a:ln w="12700">
            <a:solidFill>
              <a:srgbClr val="888888"/>
            </a:solidFill>
          </a:ln>
        </p:spPr>
        <p:txBody>
          <a:bodyPr rtlCol="0" anchor="ctr" lIns="18288" tIns="9144" rIns="18288" bIns="9144"/>
          <a:lstStyle/>
          <a:p>
            <a:pPr algn="ctr">
              <a:lnSpc>
                <a:spcPct val="150000"/>
              </a:lnSpc>
            </a:pPr>
            <a:r>
              <a:rPr lang="ja-JP" altLang="en-US" sz="1100">
                <a:solidFill>
                  <a:srgbClr val="333333"/>
                </a:solidFill>
                <a:latin typeface="Noto Sans JP"/>
                <a:ea typeface="Noto Sans JP"/>
              </a:rPr>
              <a:t>監査ログ</a:t>
            </a:r>
          </a:p>
        </p:txBody>
      </p:sp>
      <p:cxnSp>
        <p:nvCxnSpPr>
          <p:cNvPr id="10" name="edge REQ-CHECK"/>
          <p:cNvCxnSpPr>
            <a:cxnSpLocks/>
            <a:stCxn id="3" idx="2"/>
            <a:endCxn id="4" idx="0"/>
          </p:cNvCxnSpPr>
          <p:nvPr/>
        </p:nvCxnSpPr>
        <p:spPr>
          <a:xfrm>
            <a:off x="5606269" y="819106"/>
            <a:ext cx="0" cy="439343"/>
          </a:xfrm>
          <a:prstGeom prst="straightConnector1">
            <a:avLst/>
          </a:prstGeom>
          <a:ln w="12700" cap="flat">
            <a:solidFill>
              <a:srgbClr val="333333"/>
            </a:solidFill>
            <a:round/>
            <a:headEnd type="none"/>
            <a:tailEnd type="triangle"/>
          </a:ln>
        </p:spPr>
      </p:cxnSp>
      <p:cxnSp>
        <p:nvCxnSpPr>
          <p:cNvPr id="11" name="edge CHECK-ISSUE"/>
          <p:cNvCxnSpPr>
            <a:cxnSpLocks/>
            <a:stCxn id="4" idx="2"/>
            <a:endCxn id="5" idx="0"/>
          </p:cNvCxnSpPr>
          <p:nvPr/>
        </p:nvCxnSpPr>
        <p:spPr>
          <a:xfrm rot="5400000">
            <a:off x="3967530" y="3294443"/>
            <a:ext cx="2145819" cy="389918"/>
          </a:xfrm>
          <a:prstGeom prst="curvedConnector3">
            <a:avLst/>
          </a:prstGeom>
          <a:ln w="12700" cap="flat">
            <a:solidFill>
              <a:srgbClr val="333333"/>
            </a:solidFill>
            <a:round/>
            <a:headEnd type="none"/>
            <a:tailEnd type="triangle"/>
          </a:ln>
        </p:spPr>
      </p:cxnSp>
      <p:cxnSp>
        <p:nvCxnSpPr>
          <p:cNvPr id="12" name="edge CHECK-MANUAL"/>
          <p:cNvCxnSpPr>
            <a:cxnSpLocks/>
            <a:stCxn id="4" idx="2"/>
            <a:endCxn id="6" idx="0"/>
          </p:cNvCxnSpPr>
          <p:nvPr/>
        </p:nvCxnSpPr>
        <p:spPr>
          <a:xfrm rot="5400000" flipV="1">
            <a:off x="5082570" y="2979452"/>
            <a:ext cx="816034" cy="100248"/>
          </a:xfrm>
          <a:prstGeom prst="curvedConnector3">
            <a:avLst/>
          </a:prstGeom>
          <a:ln w="12700" cap="flat">
            <a:solidFill>
              <a:srgbClr val="333333"/>
            </a:solidFill>
            <a:round/>
            <a:headEnd type="none"/>
            <a:tailEnd type="triangle"/>
          </a:ln>
        </p:spPr>
      </p:cxnSp>
      <p:cxnSp>
        <p:nvCxnSpPr>
          <p:cNvPr id="13" name="edge CHECK-REJECT"/>
          <p:cNvCxnSpPr>
            <a:cxnSpLocks/>
            <a:stCxn id="4" idx="3"/>
            <a:endCxn id="7" idx="0"/>
          </p:cNvCxnSpPr>
          <p:nvPr/>
        </p:nvCxnSpPr>
        <p:spPr>
          <a:xfrm>
            <a:off x="6041192" y="2352442"/>
            <a:ext cx="1003103" cy="2209870"/>
          </a:xfrm>
          <a:prstGeom prst="curvedConnector2">
            <a:avLst/>
          </a:prstGeom>
          <a:ln w="12700" cap="flat">
            <a:solidFill>
              <a:srgbClr val="333333"/>
            </a:solidFill>
            <a:round/>
            <a:headEnd type="none"/>
            <a:tailEnd type="triangle"/>
          </a:ln>
        </p:spPr>
      </p:cxnSp>
      <p:cxnSp>
        <p:nvCxnSpPr>
          <p:cNvPr id="14" name="edge MANUAL-CHECK"/>
          <p:cNvCxnSpPr>
            <a:cxnSpLocks/>
            <a:stCxn id="6" idx="0"/>
            <a:endCxn id="4" idx="2"/>
          </p:cNvCxnSpPr>
          <p:nvPr/>
        </p:nvCxnSpPr>
        <p:spPr>
          <a:xfrm rot="5400000" flipH="1">
            <a:off x="5413336" y="2980298"/>
            <a:ext cx="884099" cy="30491"/>
          </a:xfrm>
          <a:prstGeom prst="curvedConnector3">
            <a:avLst/>
          </a:prstGeom>
          <a:ln w="12700" cap="flat">
            <a:solidFill>
              <a:srgbClr val="333333"/>
            </a:solidFill>
            <a:round/>
            <a:headEnd type="none"/>
            <a:tailEnd type="triangle"/>
          </a:ln>
        </p:spPr>
      </p:cxnSp>
      <p:cxnSp>
        <p:nvCxnSpPr>
          <p:cNvPr id="15" name="edge MANUAL-ISSUE"/>
          <p:cNvCxnSpPr>
            <a:cxnSpLocks/>
            <a:stCxn id="6" idx="2"/>
            <a:endCxn id="5" idx="0"/>
          </p:cNvCxnSpPr>
          <p:nvPr/>
        </p:nvCxnSpPr>
        <p:spPr>
          <a:xfrm rot="5400000">
            <a:off x="5193267" y="4042495"/>
            <a:ext cx="650228" cy="389407"/>
          </a:xfrm>
          <a:prstGeom prst="curvedConnector3">
            <a:avLst/>
          </a:prstGeom>
          <a:ln w="12700" cap="flat">
            <a:solidFill>
              <a:srgbClr val="333333"/>
            </a:solidFill>
            <a:round/>
            <a:headEnd type="none"/>
            <a:tailEnd type="triangle"/>
          </a:ln>
        </p:spPr>
      </p:cxnSp>
      <p:cxnSp>
        <p:nvCxnSpPr>
          <p:cNvPr id="16" name="edge ISSUE-MAIL"/>
          <p:cNvCxnSpPr>
            <a:cxnSpLocks/>
            <a:stCxn id="5" idx="2"/>
            <a:endCxn id="8" idx="0"/>
          </p:cNvCxnSpPr>
          <p:nvPr/>
        </p:nvCxnSpPr>
        <p:spPr>
          <a:xfrm rot="5400000" flipV="1">
            <a:off x="4549623" y="5388968"/>
            <a:ext cx="720717" cy="16386"/>
          </a:xfrm>
          <a:prstGeom prst="curvedConnector3">
            <a:avLst/>
          </a:prstGeom>
          <a:ln w="12700" cap="flat">
            <a:solidFill>
              <a:srgbClr val="333333"/>
            </a:solidFill>
            <a:round/>
            <a:headEnd type="none"/>
            <a:tailEnd type="triangle"/>
          </a:ln>
        </p:spPr>
      </p:cxnSp>
      <p:cxnSp>
        <p:nvCxnSpPr>
          <p:cNvPr id="17" name="edge REJECT-MAIL"/>
          <p:cNvCxnSpPr>
            <a:cxnSpLocks/>
            <a:stCxn id="7" idx="2"/>
            <a:endCxn id="8" idx="0"/>
          </p:cNvCxnSpPr>
          <p:nvPr/>
        </p:nvCxnSpPr>
        <p:spPr>
          <a:xfrm rot="5400000">
            <a:off x="5723869" y="4879647"/>
            <a:ext cx="720717" cy="1035028"/>
          </a:xfrm>
          <a:prstGeom prst="curvedConnector3">
            <a:avLst/>
          </a:prstGeom>
          <a:ln w="12700" cap="flat">
            <a:solidFill>
              <a:srgbClr val="333333"/>
            </a:solidFill>
            <a:round/>
            <a:headEnd type="none"/>
            <a:tailEnd type="triangle"/>
          </a:ln>
        </p:spPr>
      </p:cxnSp>
      <p:cxnSp>
        <p:nvCxnSpPr>
          <p:cNvPr id="18" name="edge ISSUE-LOG"/>
          <p:cNvCxnSpPr>
            <a:cxnSpLocks/>
            <a:stCxn id="5" idx="3"/>
            <a:endCxn id="9" idx="1"/>
          </p:cNvCxnSpPr>
          <p:nvPr/>
        </p:nvCxnSpPr>
        <p:spPr>
          <a:xfrm>
            <a:off x="5584302" y="4985435"/>
            <a:ext cx="1486354" cy="836092"/>
          </a:xfrm>
          <a:prstGeom prst="curvedConnector3">
            <a:avLst/>
          </a:prstGeom>
          <a:ln w="12700" cap="flat">
            <a:solidFill>
              <a:srgbClr val="333333"/>
            </a:solidFill>
            <a:prstDash val="dash"/>
            <a:round/>
            <a:headEnd type="none"/>
            <a:tailEnd type="triangle"/>
          </a:ln>
        </p:spPr>
      </p:cxnSp>
      <p:cxnSp>
        <p:nvCxnSpPr>
          <p:cNvPr id="19" name="edge REJECT-LOG"/>
          <p:cNvCxnSpPr>
            <a:cxnSpLocks/>
            <a:stCxn id="7" idx="2"/>
            <a:endCxn id="9" idx="0"/>
          </p:cNvCxnSpPr>
          <p:nvPr/>
        </p:nvCxnSpPr>
        <p:spPr>
          <a:xfrm rot="5400000" flipV="1">
            <a:off x="6894072" y="5283978"/>
            <a:ext cx="663209" cy="168859"/>
          </a:xfrm>
          <a:prstGeom prst="curvedConnector3">
            <a:avLst/>
          </a:prstGeom>
          <a:ln w="12700" cap="flat">
            <a:solidFill>
              <a:srgbClr val="333333"/>
            </a:solidFill>
            <a:prstDash val="dash"/>
            <a:round/>
            <a:headEnd type="none"/>
            <a:tailEnd type="triangle"/>
          </a:ln>
        </p:spPr>
      </p:cxnSp>
      <p:cxnSp>
        <p:nvCxnSpPr>
          <p:cNvPr id="20" name="edge MANUAL-LOG"/>
          <p:cNvCxnSpPr>
            <a:cxnSpLocks/>
            <a:stCxn id="6" idx="3"/>
            <a:endCxn id="9" idx="0"/>
          </p:cNvCxnSpPr>
          <p:nvPr/>
        </p:nvCxnSpPr>
        <p:spPr>
          <a:xfrm>
            <a:off x="6398461" y="3851354"/>
            <a:ext cx="1295319" cy="1877966"/>
          </a:xfrm>
          <a:prstGeom prst="curvedConnector2">
            <a:avLst/>
          </a:prstGeom>
          <a:ln w="12700" cap="flat">
            <a:solidFill>
              <a:srgbClr val="333333"/>
            </a:solidFill>
            <a:prstDash val="dash"/>
            <a:round/>
            <a:headEnd type="none"/>
            <a:tailEnd type="triangle"/>
          </a:ln>
        </p:spPr>
      </p:cxnSp>
      <p:sp>
        <p:nvSpPr>
          <p:cNvPr id="21" name="承認"/>
          <p:cNvSpPr/>
          <p:nvPr/>
        </p:nvSpPr>
        <p:spPr>
          <a:xfrm>
            <a:off x="4373661" y="3538513"/>
            <a:ext cx="411835" cy="272651"/>
          </a:xfrm>
          <a:prstGeom prst="roundRect">
            <a:avLst/>
          </a:prstGeom>
          <a:solidFill>
            <a:srgbClr val="E8E8E8">
              <a:alpha val="80000"/>
            </a:srgbClr>
          </a:solidFill>
          <a:ln>
            <a:noFill/>
          </a:ln>
        </p:spPr>
        <p:txBody>
          <a:bodyPr rtlCol="0" anchor="ctr" wrap="none" lIns="0" tIns="0" rIns="0" bIns="0"/>
          <a:lstStyle/>
          <a:p>
            <a:pPr algn="ctr">
              <a:lnSpc>
                <a:spcPct val="150000"/>
              </a:lnSpc>
            </a:pPr>
            <a:r>
              <a:rPr lang="ja-JP" altLang="en-US" sz="1100">
                <a:solidFill>
                  <a:srgbClr val="333333"/>
                </a:solidFill>
                <a:latin typeface="Noto Sans JP"/>
                <a:ea typeface="Noto Sans JP"/>
              </a:rPr>
              <a:t>承認</a:t>
            </a:r>
          </a:p>
        </p:txBody>
      </p:sp>
      <p:sp>
        <p:nvSpPr>
          <p:cNvPr id="22" name="保留"/>
          <p:cNvSpPr/>
          <p:nvPr/>
        </p:nvSpPr>
        <p:spPr>
          <a:xfrm>
            <a:off x="5112929" y="2924337"/>
            <a:ext cx="411835" cy="272651"/>
          </a:xfrm>
          <a:prstGeom prst="roundRect">
            <a:avLst/>
          </a:prstGeom>
          <a:solidFill>
            <a:srgbClr val="E8E8E8">
              <a:alpha val="80000"/>
            </a:srgbClr>
          </a:solidFill>
          <a:ln>
            <a:noFill/>
          </a:ln>
        </p:spPr>
        <p:txBody>
          <a:bodyPr rtlCol="0" anchor="ctr" wrap="none" lIns="0" tIns="0" rIns="0" bIns="0"/>
          <a:lstStyle/>
          <a:p>
            <a:pPr algn="ctr">
              <a:lnSpc>
                <a:spcPct val="150000"/>
              </a:lnSpc>
            </a:pPr>
            <a:r>
              <a:rPr lang="ja-JP" altLang="en-US" sz="1100">
                <a:solidFill>
                  <a:srgbClr val="333333"/>
                </a:solidFill>
                <a:latin typeface="Noto Sans JP"/>
                <a:ea typeface="Noto Sans JP"/>
              </a:rPr>
              <a:t>保留</a:t>
            </a:r>
          </a:p>
        </p:txBody>
      </p:sp>
      <p:sp>
        <p:nvSpPr>
          <p:cNvPr id="23" name="否決"/>
          <p:cNvSpPr/>
          <p:nvPr/>
        </p:nvSpPr>
        <p:spPr>
          <a:xfrm>
            <a:off x="6838378" y="3538513"/>
            <a:ext cx="411835" cy="272651"/>
          </a:xfrm>
          <a:prstGeom prst="roundRect">
            <a:avLst/>
          </a:prstGeom>
          <a:solidFill>
            <a:srgbClr val="E8E8E8">
              <a:alpha val="80000"/>
            </a:srgbClr>
          </a:solidFill>
          <a:ln>
            <a:noFill/>
          </a:ln>
        </p:spPr>
        <p:txBody>
          <a:bodyPr rtlCol="0" anchor="ctr" wrap="none" lIns="0" tIns="0" rIns="0" bIns="0"/>
          <a:lstStyle/>
          <a:p>
            <a:pPr algn="ctr">
              <a:lnSpc>
                <a:spcPct val="150000"/>
              </a:lnSpc>
            </a:pPr>
            <a:r>
              <a:rPr lang="ja-JP" altLang="en-US" sz="1100">
                <a:solidFill>
                  <a:srgbClr val="333333"/>
                </a:solidFill>
                <a:latin typeface="Noto Sans JP"/>
                <a:ea typeface="Noto Sans JP"/>
              </a:rPr>
              <a:t>否決</a:t>
            </a:r>
          </a:p>
        </p:txBody>
      </p:sp>
      <p:sp>
        <p:nvSpPr>
          <p:cNvPr id="24" name="再審査"/>
          <p:cNvSpPr/>
          <p:nvPr/>
        </p:nvSpPr>
        <p:spPr>
          <a:xfrm>
            <a:off x="5757390" y="2875220"/>
            <a:ext cx="569296" cy="272651"/>
          </a:xfrm>
          <a:prstGeom prst="roundRect">
            <a:avLst/>
          </a:prstGeom>
          <a:solidFill>
            <a:srgbClr val="E8E8E8">
              <a:alpha val="80000"/>
            </a:srgbClr>
          </a:solidFill>
          <a:ln>
            <a:noFill/>
          </a:ln>
        </p:spPr>
        <p:txBody>
          <a:bodyPr rtlCol="0" anchor="ctr" wrap="none" lIns="0" tIns="0" rIns="0" bIns="0"/>
          <a:lstStyle/>
          <a:p>
            <a:pPr algn="ctr">
              <a:lnSpc>
                <a:spcPct val="150000"/>
              </a:lnSpc>
            </a:pPr>
            <a:r>
              <a:rPr lang="ja-JP" altLang="en-US" sz="1100">
                <a:solidFill>
                  <a:srgbClr val="333333"/>
                </a:solidFill>
                <a:latin typeface="Noto Sans JP"/>
                <a:ea typeface="Noto Sans JP"/>
              </a:rPr>
              <a:t>再審査</a:t>
            </a:r>
          </a:p>
        </p:txBody>
      </p:sp>
      <p:sp>
        <p:nvSpPr>
          <p:cNvPr id="25" name="承認"/>
          <p:cNvSpPr/>
          <p:nvPr/>
        </p:nvSpPr>
        <p:spPr>
          <a:xfrm>
            <a:off x="5507167" y="4100872"/>
            <a:ext cx="411835" cy="272651"/>
          </a:xfrm>
          <a:prstGeom prst="roundRect">
            <a:avLst/>
          </a:prstGeom>
          <a:solidFill>
            <a:srgbClr val="E8E8E8">
              <a:alpha val="80000"/>
            </a:srgbClr>
          </a:solidFill>
          <a:ln>
            <a:noFill/>
          </a:ln>
        </p:spPr>
        <p:txBody>
          <a:bodyPr rtlCol="0" anchor="ctr" wrap="none" lIns="0" tIns="0" rIns="0" bIns="0"/>
          <a:lstStyle/>
          <a:p>
            <a:pPr algn="ctr">
              <a:lnSpc>
                <a:spcPct val="150000"/>
              </a:lnSpc>
            </a:pPr>
            <a:r>
              <a:rPr lang="ja-JP" altLang="en-US" sz="1100">
                <a:solidFill>
                  <a:srgbClr val="333333"/>
                </a:solidFill>
                <a:latin typeface="Noto Sans JP"/>
                <a:ea typeface="Noto Sans JP"/>
              </a:rPr>
              <a:t>承認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ermaid2pptx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mermaid2pptx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mermaid2pptx</dc:creator>
</cp:coreProperties>
</file>