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ER"/>
          <p:cNvSpPr/>
          <p:nvPr/>
        </p:nvSpPr>
        <p:spPr>
          <a:xfrm>
            <a:off x="3999106" y="343369"/>
            <a:ext cx="1495074" cy="1475924"/>
          </a:xfrm>
          <a:prstGeom prst="rect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</p:spPr>
      </p:sp>
      <p:sp>
        <p:nvSpPr>
          <p:cNvPr id="3" name="ORDER"/>
          <p:cNvSpPr/>
          <p:nvPr/>
        </p:nvSpPr>
        <p:spPr>
          <a:xfrm>
            <a:off x="3824393" y="2691038"/>
            <a:ext cx="1844501" cy="1475924"/>
          </a:xfrm>
          <a:prstGeom prst="rect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</p:spPr>
      </p:sp>
      <p:sp>
        <p:nvSpPr>
          <p:cNvPr id="4" name="ORDER_ITEM"/>
          <p:cNvSpPr/>
          <p:nvPr/>
        </p:nvSpPr>
        <p:spPr>
          <a:xfrm>
            <a:off x="5365523" y="5038707"/>
            <a:ext cx="1638028" cy="1475924"/>
          </a:xfrm>
          <a:prstGeom prst="rect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</p:spPr>
      </p:sp>
      <p:sp>
        <p:nvSpPr>
          <p:cNvPr id="5" name="PRODUCT"/>
          <p:cNvSpPr/>
          <p:nvPr/>
        </p:nvSpPr>
        <p:spPr>
          <a:xfrm>
            <a:off x="6877253" y="2691038"/>
            <a:ext cx="1490354" cy="1475924"/>
          </a:xfrm>
          <a:prstGeom prst="rect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</p:spPr>
      </p:sp>
      <p:cxnSp>
        <p:nvCxnSpPr>
          <p:cNvPr id="6" name="line"/>
          <p:cNvCxnSpPr/>
          <p:nvPr/>
        </p:nvCxnSpPr>
        <p:spPr>
          <a:xfrm>
            <a:off x="3999106" y="712350"/>
            <a:ext cx="1495075" cy="1"/>
          </a:xfrm>
          <a:prstGeom prst="straightConnector1">
            <a:avLst/>
          </a:prstGeom>
          <a:ln w="12700" cap="flat">
            <a:solidFill>
              <a:srgbClr val="9370DB"/>
            </a:solidFill>
            <a:round/>
            <a:headEnd type="none"/>
            <a:tailEnd type="none"/>
          </a:ln>
        </p:spPr>
      </p:cxnSp>
      <p:cxnSp>
        <p:nvCxnSpPr>
          <p:cNvPr id="7" name="line"/>
          <p:cNvCxnSpPr/>
          <p:nvPr/>
        </p:nvCxnSpPr>
        <p:spPr>
          <a:xfrm>
            <a:off x="4563366" y="712350"/>
            <a:ext cx="1" cy="1106943"/>
          </a:xfrm>
          <a:prstGeom prst="straightConnector1">
            <a:avLst/>
          </a:prstGeom>
          <a:ln w="12700" cap="flat">
            <a:solidFill>
              <a:srgbClr val="9370DB"/>
            </a:solidFill>
            <a:round/>
            <a:headEnd type="none"/>
            <a:tailEnd type="none"/>
          </a:ln>
        </p:spPr>
      </p:cxnSp>
      <p:cxnSp>
        <p:nvCxnSpPr>
          <p:cNvPr id="8" name="line"/>
          <p:cNvCxnSpPr/>
          <p:nvPr/>
        </p:nvCxnSpPr>
        <p:spPr>
          <a:xfrm>
            <a:off x="5121828" y="712350"/>
            <a:ext cx="0" cy="1106943"/>
          </a:xfrm>
          <a:prstGeom prst="straightConnector1">
            <a:avLst/>
          </a:prstGeom>
          <a:ln w="12700" cap="flat">
            <a:solidFill>
              <a:srgbClr val="9370DB"/>
            </a:solidFill>
            <a:round/>
            <a:headEnd type="none"/>
            <a:tailEnd type="none"/>
          </a:ln>
        </p:spPr>
      </p:cxnSp>
      <p:cxnSp>
        <p:nvCxnSpPr>
          <p:cNvPr id="9" name="line"/>
          <p:cNvCxnSpPr/>
          <p:nvPr/>
        </p:nvCxnSpPr>
        <p:spPr>
          <a:xfrm>
            <a:off x="3999106" y="712350"/>
            <a:ext cx="1495075" cy="1"/>
          </a:xfrm>
          <a:prstGeom prst="straightConnector1">
            <a:avLst/>
          </a:prstGeom>
          <a:ln w="12700" cap="flat">
            <a:solidFill>
              <a:srgbClr val="9370DB"/>
            </a:solidFill>
            <a:round/>
            <a:headEnd type="none"/>
            <a:tailEnd type="none"/>
          </a:ln>
        </p:spPr>
      </p:cxnSp>
      <p:cxnSp>
        <p:nvCxnSpPr>
          <p:cNvPr id="10" name="line"/>
          <p:cNvCxnSpPr/>
          <p:nvPr/>
        </p:nvCxnSpPr>
        <p:spPr>
          <a:xfrm>
            <a:off x="3824393" y="3060019"/>
            <a:ext cx="1844501" cy="0"/>
          </a:xfrm>
          <a:prstGeom prst="straightConnector1">
            <a:avLst/>
          </a:prstGeom>
          <a:ln w="12700" cap="flat">
            <a:solidFill>
              <a:srgbClr val="9370DB"/>
            </a:solidFill>
            <a:round/>
            <a:headEnd type="none"/>
            <a:tailEnd type="none"/>
          </a:ln>
        </p:spPr>
      </p:cxnSp>
      <p:cxnSp>
        <p:nvCxnSpPr>
          <p:cNvPr id="11" name="line"/>
          <p:cNvCxnSpPr/>
          <p:nvPr/>
        </p:nvCxnSpPr>
        <p:spPr>
          <a:xfrm>
            <a:off x="4319739" y="3060019"/>
            <a:ext cx="1" cy="1106943"/>
          </a:xfrm>
          <a:prstGeom prst="straightConnector1">
            <a:avLst/>
          </a:prstGeom>
          <a:ln w="12700" cap="flat">
            <a:solidFill>
              <a:srgbClr val="9370DB"/>
            </a:solidFill>
            <a:round/>
            <a:headEnd type="none"/>
            <a:tailEnd type="none"/>
          </a:ln>
        </p:spPr>
      </p:cxnSp>
      <p:cxnSp>
        <p:nvCxnSpPr>
          <p:cNvPr id="12" name="line"/>
          <p:cNvCxnSpPr/>
          <p:nvPr/>
        </p:nvCxnSpPr>
        <p:spPr>
          <a:xfrm>
            <a:off x="5296541" y="3060019"/>
            <a:ext cx="1" cy="1106943"/>
          </a:xfrm>
          <a:prstGeom prst="straightConnector1">
            <a:avLst/>
          </a:prstGeom>
          <a:ln w="12700" cap="flat">
            <a:solidFill>
              <a:srgbClr val="9370DB"/>
            </a:solidFill>
            <a:round/>
            <a:headEnd type="none"/>
            <a:tailEnd type="none"/>
          </a:ln>
        </p:spPr>
      </p:cxnSp>
      <p:cxnSp>
        <p:nvCxnSpPr>
          <p:cNvPr id="13" name="line"/>
          <p:cNvCxnSpPr/>
          <p:nvPr/>
        </p:nvCxnSpPr>
        <p:spPr>
          <a:xfrm>
            <a:off x="3824393" y="3060019"/>
            <a:ext cx="1844501" cy="0"/>
          </a:xfrm>
          <a:prstGeom prst="straightConnector1">
            <a:avLst/>
          </a:prstGeom>
          <a:ln w="12700" cap="flat">
            <a:solidFill>
              <a:srgbClr val="9370DB"/>
            </a:solidFill>
            <a:round/>
            <a:headEnd type="none"/>
            <a:tailEnd type="none"/>
          </a:ln>
        </p:spPr>
      </p:cxnSp>
      <p:cxnSp>
        <p:nvCxnSpPr>
          <p:cNvPr id="14" name="line"/>
          <p:cNvCxnSpPr/>
          <p:nvPr/>
        </p:nvCxnSpPr>
        <p:spPr>
          <a:xfrm>
            <a:off x="5365523" y="5407687"/>
            <a:ext cx="1638027" cy="1"/>
          </a:xfrm>
          <a:prstGeom prst="straightConnector1">
            <a:avLst/>
          </a:prstGeom>
          <a:ln w="12700" cap="flat">
            <a:solidFill>
              <a:srgbClr val="9370DB"/>
            </a:solidFill>
            <a:round/>
            <a:headEnd type="none"/>
            <a:tailEnd type="none"/>
          </a:ln>
        </p:spPr>
      </p:cxnSp>
      <p:cxnSp>
        <p:nvCxnSpPr>
          <p:cNvPr id="15" name="line"/>
          <p:cNvCxnSpPr/>
          <p:nvPr/>
        </p:nvCxnSpPr>
        <p:spPr>
          <a:xfrm>
            <a:off x="5750956" y="5407688"/>
            <a:ext cx="1" cy="1106943"/>
          </a:xfrm>
          <a:prstGeom prst="straightConnector1">
            <a:avLst/>
          </a:prstGeom>
          <a:ln w="12700" cap="flat">
            <a:solidFill>
              <a:srgbClr val="9370DB"/>
            </a:solidFill>
            <a:round/>
            <a:headEnd type="none"/>
            <a:tailEnd type="none"/>
          </a:ln>
        </p:spPr>
      </p:cxnSp>
      <p:cxnSp>
        <p:nvCxnSpPr>
          <p:cNvPr id="16" name="line"/>
          <p:cNvCxnSpPr/>
          <p:nvPr/>
        </p:nvCxnSpPr>
        <p:spPr>
          <a:xfrm>
            <a:off x="6635783" y="5407688"/>
            <a:ext cx="1" cy="1106943"/>
          </a:xfrm>
          <a:prstGeom prst="straightConnector1">
            <a:avLst/>
          </a:prstGeom>
          <a:ln w="12700" cap="flat">
            <a:solidFill>
              <a:srgbClr val="9370DB"/>
            </a:solidFill>
            <a:round/>
            <a:headEnd type="none"/>
            <a:tailEnd type="none"/>
          </a:ln>
        </p:spPr>
      </p:cxnSp>
      <p:cxnSp>
        <p:nvCxnSpPr>
          <p:cNvPr id="17" name="line"/>
          <p:cNvCxnSpPr/>
          <p:nvPr/>
        </p:nvCxnSpPr>
        <p:spPr>
          <a:xfrm>
            <a:off x="5365523" y="5407687"/>
            <a:ext cx="1638027" cy="1"/>
          </a:xfrm>
          <a:prstGeom prst="straightConnector1">
            <a:avLst/>
          </a:prstGeom>
          <a:ln w="12700" cap="flat">
            <a:solidFill>
              <a:srgbClr val="9370DB"/>
            </a:solidFill>
            <a:round/>
            <a:headEnd type="none"/>
            <a:tailEnd type="none"/>
          </a:ln>
        </p:spPr>
      </p:cxnSp>
      <p:cxnSp>
        <p:nvCxnSpPr>
          <p:cNvPr id="18" name="line"/>
          <p:cNvCxnSpPr/>
          <p:nvPr/>
        </p:nvCxnSpPr>
        <p:spPr>
          <a:xfrm>
            <a:off x="6877253" y="3060019"/>
            <a:ext cx="1490354" cy="0"/>
          </a:xfrm>
          <a:prstGeom prst="straightConnector1">
            <a:avLst/>
          </a:prstGeom>
          <a:ln w="12700" cap="flat">
            <a:solidFill>
              <a:srgbClr val="9370DB"/>
            </a:solidFill>
            <a:round/>
            <a:headEnd type="none"/>
            <a:tailEnd type="none"/>
          </a:ln>
        </p:spPr>
      </p:cxnSp>
      <p:cxnSp>
        <p:nvCxnSpPr>
          <p:cNvPr id="19" name="line"/>
          <p:cNvCxnSpPr/>
          <p:nvPr/>
        </p:nvCxnSpPr>
        <p:spPr>
          <a:xfrm>
            <a:off x="7441513" y="3060019"/>
            <a:ext cx="1" cy="1106943"/>
          </a:xfrm>
          <a:prstGeom prst="straightConnector1">
            <a:avLst/>
          </a:prstGeom>
          <a:ln w="12700" cap="flat">
            <a:solidFill>
              <a:srgbClr val="9370DB"/>
            </a:solidFill>
            <a:round/>
            <a:headEnd type="none"/>
            <a:tailEnd type="none"/>
          </a:ln>
        </p:spPr>
      </p:cxnSp>
      <p:cxnSp>
        <p:nvCxnSpPr>
          <p:cNvPr id="20" name="line"/>
          <p:cNvCxnSpPr/>
          <p:nvPr/>
        </p:nvCxnSpPr>
        <p:spPr>
          <a:xfrm>
            <a:off x="7995254" y="3060019"/>
            <a:ext cx="1" cy="1106943"/>
          </a:xfrm>
          <a:prstGeom prst="straightConnector1">
            <a:avLst/>
          </a:prstGeom>
          <a:ln w="12700" cap="flat">
            <a:solidFill>
              <a:srgbClr val="9370DB"/>
            </a:solidFill>
            <a:round/>
            <a:headEnd type="none"/>
            <a:tailEnd type="none"/>
          </a:ln>
        </p:spPr>
      </p:cxnSp>
      <p:cxnSp>
        <p:nvCxnSpPr>
          <p:cNvPr id="21" name="line"/>
          <p:cNvCxnSpPr/>
          <p:nvPr/>
        </p:nvCxnSpPr>
        <p:spPr>
          <a:xfrm>
            <a:off x="6877253" y="3060019"/>
            <a:ext cx="1490354" cy="0"/>
          </a:xfrm>
          <a:prstGeom prst="straightConnector1">
            <a:avLst/>
          </a:prstGeom>
          <a:ln w="12700" cap="flat">
            <a:solidFill>
              <a:srgbClr val="9370DB"/>
            </a:solidFill>
            <a:round/>
            <a:headEnd type="none"/>
            <a:tailEnd type="none"/>
          </a:ln>
        </p:spPr>
      </p:cxnSp>
      <p:cxnSp>
        <p:nvCxnSpPr>
          <p:cNvPr id="22" name="edge CUSTOMER-ORDER"/>
          <p:cNvCxnSpPr>
            <a:cxnSpLocks/>
            <a:stCxn id="2" idx="2"/>
            <a:endCxn id="3" idx="0"/>
          </p:cNvCxnSpPr>
          <p:nvPr/>
        </p:nvCxnSpPr>
        <p:spPr>
          <a:xfrm>
            <a:off x="4746643" y="1819293"/>
            <a:ext cx="0" cy="871745"/>
          </a:xfrm>
          <a:prstGeom prst="straightConnector1">
            <a:avLst/>
          </a:prstGeom>
          <a:ln w="12700" cap="flat">
            <a:solidFill>
              <a:srgbClr val="333333"/>
            </a:solidFill>
            <a:round/>
            <a:headEnd type="none"/>
            <a:tailEnd type="arrow"/>
          </a:ln>
        </p:spPr>
      </p:cxnSp>
      <p:cxnSp>
        <p:nvCxnSpPr>
          <p:cNvPr id="23" name="edge ORDER-ORDER_ITEM"/>
          <p:cNvCxnSpPr>
            <a:cxnSpLocks/>
            <a:stCxn id="3" idx="2"/>
            <a:endCxn id="4" idx="1"/>
          </p:cNvCxnSpPr>
          <p:nvPr/>
        </p:nvCxnSpPr>
        <p:spPr>
          <a:xfrm rot="5400000" flipV="1">
            <a:off x="4585534" y="4328071"/>
            <a:ext cx="941099" cy="618880"/>
          </a:xfrm>
          <a:prstGeom prst="curvedConnector2">
            <a:avLst/>
          </a:prstGeom>
          <a:ln w="12700" cap="flat">
            <a:solidFill>
              <a:srgbClr val="333333"/>
            </a:solidFill>
            <a:round/>
            <a:headEnd type="none"/>
            <a:tailEnd type="arrow"/>
          </a:ln>
        </p:spPr>
      </p:cxnSp>
      <p:cxnSp>
        <p:nvCxnSpPr>
          <p:cNvPr id="24" name="edge PRODUCT-ORDER_ITEM"/>
          <p:cNvCxnSpPr>
            <a:cxnSpLocks/>
            <a:stCxn id="5" idx="2"/>
            <a:endCxn id="4" idx="3"/>
          </p:cNvCxnSpPr>
          <p:nvPr/>
        </p:nvCxnSpPr>
        <p:spPr>
          <a:xfrm rot="5400000">
            <a:off x="6842441" y="4328071"/>
            <a:ext cx="941099" cy="618880"/>
          </a:xfrm>
          <a:prstGeom prst="curvedConnector2">
            <a:avLst/>
          </a:prstGeom>
          <a:ln w="12700" cap="flat">
            <a:solidFill>
              <a:srgbClr val="333333"/>
            </a:solidFill>
            <a:round/>
            <a:headEnd type="none"/>
            <a:tailEnd type="arrow"/>
          </a:ln>
        </p:spPr>
      </p:cxnSp>
      <p:sp>
        <p:nvSpPr>
          <p:cNvPr id="25" name="CUSTOMER"/>
          <p:cNvSpPr/>
          <p:nvPr/>
        </p:nvSpPr>
        <p:spPr>
          <a:xfrm>
            <a:off x="4418390" y="424286"/>
            <a:ext cx="656506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050" b="1">
                <a:solidFill>
                  <a:srgbClr val="333333"/>
                </a:solidFill>
                <a:latin typeface="Noto Sans JP"/>
                <a:ea typeface="Noto Sans JP"/>
              </a:rPr>
              <a:t>CUSTOMER</a:t>
            </a:r>
          </a:p>
        </p:txBody>
      </p:sp>
      <p:sp>
        <p:nvSpPr>
          <p:cNvPr id="26" name="int"/>
          <p:cNvSpPr/>
          <p:nvPr/>
        </p:nvSpPr>
        <p:spPr>
          <a:xfrm>
            <a:off x="4106995" y="793267"/>
            <a:ext cx="169656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050">
                <a:solidFill>
                  <a:srgbClr val="333333"/>
                </a:solidFill>
                <a:latin typeface="Noto Sans JP"/>
                <a:ea typeface="Noto Sans JP"/>
              </a:rPr>
              <a:t>int</a:t>
            </a:r>
          </a:p>
        </p:txBody>
      </p:sp>
      <p:sp>
        <p:nvSpPr>
          <p:cNvPr id="27" name="id"/>
          <p:cNvSpPr/>
          <p:nvPr/>
        </p:nvSpPr>
        <p:spPr>
          <a:xfrm>
            <a:off x="4671256" y="793267"/>
            <a:ext cx="116385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050">
                <a:solidFill>
                  <a:srgbClr val="333333"/>
                </a:solidFill>
                <a:latin typeface="Noto Sans JP"/>
                <a:ea typeface="Noto Sans JP"/>
              </a:rPr>
              <a:t>id</a:t>
            </a:r>
          </a:p>
        </p:txBody>
      </p:sp>
      <p:sp>
        <p:nvSpPr>
          <p:cNvPr id="28" name="PK"/>
          <p:cNvSpPr/>
          <p:nvPr/>
        </p:nvSpPr>
        <p:spPr>
          <a:xfrm>
            <a:off x="5229717" y="793267"/>
            <a:ext cx="156574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050">
                <a:solidFill>
                  <a:srgbClr val="333333"/>
                </a:solidFill>
                <a:latin typeface="Noto Sans JP"/>
                <a:ea typeface="Noto Sans JP"/>
              </a:rPr>
              <a:t>PK</a:t>
            </a:r>
          </a:p>
        </p:txBody>
      </p:sp>
      <p:sp>
        <p:nvSpPr>
          <p:cNvPr id="29" name="string"/>
          <p:cNvSpPr/>
          <p:nvPr/>
        </p:nvSpPr>
        <p:spPr>
          <a:xfrm>
            <a:off x="4106995" y="1162248"/>
            <a:ext cx="348482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050">
                <a:solidFill>
                  <a:srgbClr val="333333"/>
                </a:solidFill>
                <a:latin typeface="Noto Sans JP"/>
                <a:ea typeface="Noto Sans JP"/>
              </a:rPr>
              <a:t>string</a:t>
            </a:r>
          </a:p>
        </p:txBody>
      </p:sp>
      <p:sp>
        <p:nvSpPr>
          <p:cNvPr id="30" name="name"/>
          <p:cNvSpPr/>
          <p:nvPr/>
        </p:nvSpPr>
        <p:spPr>
          <a:xfrm>
            <a:off x="4671256" y="1162248"/>
            <a:ext cx="337963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050">
                <a:solidFill>
                  <a:srgbClr val="333333"/>
                </a:solidFill>
                <a:latin typeface="Noto Sans JP"/>
                <a:ea typeface="Noto Sans JP"/>
              </a:rPr>
              <a:t>name</a:t>
            </a:r>
          </a:p>
        </p:txBody>
      </p:sp>
      <p:sp>
        <p:nvSpPr>
          <p:cNvPr id="31" name="string"/>
          <p:cNvSpPr/>
          <p:nvPr/>
        </p:nvSpPr>
        <p:spPr>
          <a:xfrm>
            <a:off x="4106995" y="1531229"/>
            <a:ext cx="348482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050">
                <a:solidFill>
                  <a:srgbClr val="333333"/>
                </a:solidFill>
                <a:latin typeface="Noto Sans JP"/>
                <a:ea typeface="Noto Sans JP"/>
              </a:rPr>
              <a:t>string</a:t>
            </a:r>
          </a:p>
        </p:txBody>
      </p:sp>
      <p:sp>
        <p:nvSpPr>
          <p:cNvPr id="32" name="email"/>
          <p:cNvSpPr/>
          <p:nvPr/>
        </p:nvSpPr>
        <p:spPr>
          <a:xfrm>
            <a:off x="4671256" y="1531229"/>
            <a:ext cx="342683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050">
                <a:solidFill>
                  <a:srgbClr val="333333"/>
                </a:solidFill>
                <a:latin typeface="Noto Sans JP"/>
                <a:ea typeface="Noto Sans JP"/>
              </a:rPr>
              <a:t>email</a:t>
            </a:r>
          </a:p>
        </p:txBody>
      </p:sp>
      <p:sp>
        <p:nvSpPr>
          <p:cNvPr id="33" name="ORDER"/>
          <p:cNvSpPr/>
          <p:nvPr/>
        </p:nvSpPr>
        <p:spPr>
          <a:xfrm>
            <a:off x="4540373" y="2771955"/>
            <a:ext cx="412541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050" b="1">
                <a:solidFill>
                  <a:srgbClr val="333333"/>
                </a:solidFill>
                <a:latin typeface="Noto Sans JP"/>
                <a:ea typeface="Noto Sans JP"/>
              </a:rPr>
              <a:t>ORDER</a:t>
            </a:r>
          </a:p>
        </p:txBody>
      </p:sp>
      <p:sp>
        <p:nvSpPr>
          <p:cNvPr id="34" name="int"/>
          <p:cNvSpPr/>
          <p:nvPr/>
        </p:nvSpPr>
        <p:spPr>
          <a:xfrm>
            <a:off x="3932282" y="3140936"/>
            <a:ext cx="169656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050">
                <a:solidFill>
                  <a:srgbClr val="333333"/>
                </a:solidFill>
                <a:latin typeface="Noto Sans JP"/>
                <a:ea typeface="Noto Sans JP"/>
              </a:rPr>
              <a:t>int</a:t>
            </a:r>
          </a:p>
        </p:txBody>
      </p:sp>
      <p:sp>
        <p:nvSpPr>
          <p:cNvPr id="35" name="id"/>
          <p:cNvSpPr/>
          <p:nvPr/>
        </p:nvSpPr>
        <p:spPr>
          <a:xfrm>
            <a:off x="4427628" y="3140936"/>
            <a:ext cx="116385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050">
                <a:solidFill>
                  <a:srgbClr val="333333"/>
                </a:solidFill>
                <a:latin typeface="Noto Sans JP"/>
                <a:ea typeface="Noto Sans JP"/>
              </a:rPr>
              <a:t>id</a:t>
            </a:r>
          </a:p>
        </p:txBody>
      </p:sp>
      <p:sp>
        <p:nvSpPr>
          <p:cNvPr id="36" name="PK"/>
          <p:cNvSpPr/>
          <p:nvPr/>
        </p:nvSpPr>
        <p:spPr>
          <a:xfrm>
            <a:off x="5404430" y="3140936"/>
            <a:ext cx="156574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050">
                <a:solidFill>
                  <a:srgbClr val="333333"/>
                </a:solidFill>
                <a:latin typeface="Noto Sans JP"/>
                <a:ea typeface="Noto Sans JP"/>
              </a:rPr>
              <a:t>PK</a:t>
            </a:r>
          </a:p>
        </p:txBody>
      </p:sp>
      <p:sp>
        <p:nvSpPr>
          <p:cNvPr id="37" name="int"/>
          <p:cNvSpPr/>
          <p:nvPr/>
        </p:nvSpPr>
        <p:spPr>
          <a:xfrm>
            <a:off x="3932282" y="3509917"/>
            <a:ext cx="169656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050">
                <a:solidFill>
                  <a:srgbClr val="333333"/>
                </a:solidFill>
                <a:latin typeface="Noto Sans JP"/>
                <a:ea typeface="Noto Sans JP"/>
              </a:rPr>
              <a:t>int</a:t>
            </a:r>
          </a:p>
        </p:txBody>
      </p:sp>
      <p:sp>
        <p:nvSpPr>
          <p:cNvPr id="38" name="customer_id"/>
          <p:cNvSpPr/>
          <p:nvPr/>
        </p:nvSpPr>
        <p:spPr>
          <a:xfrm>
            <a:off x="4427628" y="3509917"/>
            <a:ext cx="761023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050">
                <a:solidFill>
                  <a:srgbClr val="333333"/>
                </a:solidFill>
                <a:latin typeface="Noto Sans JP"/>
                <a:ea typeface="Noto Sans JP"/>
              </a:rPr>
              <a:t>customer_id</a:t>
            </a:r>
          </a:p>
        </p:txBody>
      </p:sp>
      <p:sp>
        <p:nvSpPr>
          <p:cNvPr id="39" name="FK"/>
          <p:cNvSpPr/>
          <p:nvPr/>
        </p:nvSpPr>
        <p:spPr>
          <a:xfrm>
            <a:off x="5404430" y="3509917"/>
            <a:ext cx="151989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050">
                <a:solidFill>
                  <a:srgbClr val="333333"/>
                </a:solidFill>
                <a:latin typeface="Noto Sans JP"/>
                <a:ea typeface="Noto Sans JP"/>
              </a:rPr>
              <a:t>FK</a:t>
            </a:r>
          </a:p>
        </p:txBody>
      </p:sp>
      <p:sp>
        <p:nvSpPr>
          <p:cNvPr id="40" name="date"/>
          <p:cNvSpPr/>
          <p:nvPr/>
        </p:nvSpPr>
        <p:spPr>
          <a:xfrm>
            <a:off x="3932282" y="3878898"/>
            <a:ext cx="279568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050">
                <a:solidFill>
                  <a:srgbClr val="333333"/>
                </a:solidFill>
                <a:latin typeface="Noto Sans JP"/>
                <a:ea typeface="Noto Sans JP"/>
              </a:rPr>
              <a:t>date</a:t>
            </a:r>
          </a:p>
        </p:txBody>
      </p:sp>
      <p:sp>
        <p:nvSpPr>
          <p:cNvPr id="41" name="ordered_at"/>
          <p:cNvSpPr/>
          <p:nvPr/>
        </p:nvSpPr>
        <p:spPr>
          <a:xfrm>
            <a:off x="4427628" y="3878898"/>
            <a:ext cx="685771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050">
                <a:solidFill>
                  <a:srgbClr val="333333"/>
                </a:solidFill>
                <a:latin typeface="Noto Sans JP"/>
                <a:ea typeface="Noto Sans JP"/>
              </a:rPr>
              <a:t>ordered_at</a:t>
            </a:r>
          </a:p>
        </p:txBody>
      </p:sp>
      <p:sp>
        <p:nvSpPr>
          <p:cNvPr id="42" name="ORDER_ITEM"/>
          <p:cNvSpPr/>
          <p:nvPr/>
        </p:nvSpPr>
        <p:spPr>
          <a:xfrm>
            <a:off x="5796810" y="5119624"/>
            <a:ext cx="775454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050" b="1">
                <a:solidFill>
                  <a:srgbClr val="333333"/>
                </a:solidFill>
                <a:latin typeface="Noto Sans JP"/>
                <a:ea typeface="Noto Sans JP"/>
              </a:rPr>
              <a:t>ORDER_ITEM</a:t>
            </a:r>
          </a:p>
        </p:txBody>
      </p:sp>
      <p:sp>
        <p:nvSpPr>
          <p:cNvPr id="43" name="int"/>
          <p:cNvSpPr/>
          <p:nvPr/>
        </p:nvSpPr>
        <p:spPr>
          <a:xfrm>
            <a:off x="5473412" y="5488605"/>
            <a:ext cx="169656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050">
                <a:solidFill>
                  <a:srgbClr val="333333"/>
                </a:solidFill>
                <a:latin typeface="Noto Sans JP"/>
                <a:ea typeface="Noto Sans JP"/>
              </a:rPr>
              <a:t>int</a:t>
            </a:r>
          </a:p>
        </p:txBody>
      </p:sp>
      <p:sp>
        <p:nvSpPr>
          <p:cNvPr id="44" name="order_id"/>
          <p:cNvSpPr/>
          <p:nvPr/>
        </p:nvSpPr>
        <p:spPr>
          <a:xfrm>
            <a:off x="5858846" y="5488605"/>
            <a:ext cx="522453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050">
                <a:solidFill>
                  <a:srgbClr val="333333"/>
                </a:solidFill>
                <a:latin typeface="Noto Sans JP"/>
                <a:ea typeface="Noto Sans JP"/>
              </a:rPr>
              <a:t>order_id</a:t>
            </a:r>
          </a:p>
        </p:txBody>
      </p:sp>
      <p:sp>
        <p:nvSpPr>
          <p:cNvPr id="45" name="FK"/>
          <p:cNvSpPr/>
          <p:nvPr/>
        </p:nvSpPr>
        <p:spPr>
          <a:xfrm>
            <a:off x="6743672" y="5488605"/>
            <a:ext cx="151989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050">
                <a:solidFill>
                  <a:srgbClr val="333333"/>
                </a:solidFill>
                <a:latin typeface="Noto Sans JP"/>
                <a:ea typeface="Noto Sans JP"/>
              </a:rPr>
              <a:t>FK</a:t>
            </a:r>
          </a:p>
        </p:txBody>
      </p:sp>
      <p:sp>
        <p:nvSpPr>
          <p:cNvPr id="46" name="int"/>
          <p:cNvSpPr/>
          <p:nvPr/>
        </p:nvSpPr>
        <p:spPr>
          <a:xfrm>
            <a:off x="5473412" y="5857586"/>
            <a:ext cx="169656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050">
                <a:solidFill>
                  <a:srgbClr val="333333"/>
                </a:solidFill>
                <a:latin typeface="Noto Sans JP"/>
                <a:ea typeface="Noto Sans JP"/>
              </a:rPr>
              <a:t>int</a:t>
            </a:r>
          </a:p>
        </p:txBody>
      </p:sp>
      <p:sp>
        <p:nvSpPr>
          <p:cNvPr id="47" name="product_id"/>
          <p:cNvSpPr/>
          <p:nvPr/>
        </p:nvSpPr>
        <p:spPr>
          <a:xfrm>
            <a:off x="5858846" y="5857586"/>
            <a:ext cx="669048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050">
                <a:solidFill>
                  <a:srgbClr val="333333"/>
                </a:solidFill>
                <a:latin typeface="Noto Sans JP"/>
                <a:ea typeface="Noto Sans JP"/>
              </a:rPr>
              <a:t>product_id</a:t>
            </a:r>
          </a:p>
        </p:txBody>
      </p:sp>
      <p:sp>
        <p:nvSpPr>
          <p:cNvPr id="48" name="FK"/>
          <p:cNvSpPr/>
          <p:nvPr/>
        </p:nvSpPr>
        <p:spPr>
          <a:xfrm>
            <a:off x="6743672" y="5857586"/>
            <a:ext cx="151989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050">
                <a:solidFill>
                  <a:srgbClr val="333333"/>
                </a:solidFill>
                <a:latin typeface="Noto Sans JP"/>
                <a:ea typeface="Noto Sans JP"/>
              </a:rPr>
              <a:t>FK</a:t>
            </a:r>
          </a:p>
        </p:txBody>
      </p:sp>
      <p:sp>
        <p:nvSpPr>
          <p:cNvPr id="49" name="int"/>
          <p:cNvSpPr/>
          <p:nvPr/>
        </p:nvSpPr>
        <p:spPr>
          <a:xfrm>
            <a:off x="5473412" y="6226567"/>
            <a:ext cx="169656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050">
                <a:solidFill>
                  <a:srgbClr val="333333"/>
                </a:solidFill>
                <a:latin typeface="Noto Sans JP"/>
                <a:ea typeface="Noto Sans JP"/>
              </a:rPr>
              <a:t>int</a:t>
            </a:r>
          </a:p>
        </p:txBody>
      </p:sp>
      <p:sp>
        <p:nvSpPr>
          <p:cNvPr id="50" name="quantity"/>
          <p:cNvSpPr/>
          <p:nvPr/>
        </p:nvSpPr>
        <p:spPr>
          <a:xfrm>
            <a:off x="5858846" y="6226567"/>
            <a:ext cx="517464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050">
                <a:solidFill>
                  <a:srgbClr val="333333"/>
                </a:solidFill>
                <a:latin typeface="Noto Sans JP"/>
                <a:ea typeface="Noto Sans JP"/>
              </a:rPr>
              <a:t>quantity</a:t>
            </a:r>
          </a:p>
        </p:txBody>
      </p:sp>
      <p:sp>
        <p:nvSpPr>
          <p:cNvPr id="51" name="PRODUCT"/>
          <p:cNvSpPr/>
          <p:nvPr/>
        </p:nvSpPr>
        <p:spPr>
          <a:xfrm>
            <a:off x="7328701" y="2771955"/>
            <a:ext cx="587457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050" b="1">
                <a:solidFill>
                  <a:srgbClr val="333333"/>
                </a:solidFill>
                <a:latin typeface="Noto Sans JP"/>
                <a:ea typeface="Noto Sans JP"/>
              </a:rPr>
              <a:t>PRODUCT</a:t>
            </a:r>
          </a:p>
        </p:txBody>
      </p:sp>
      <p:sp>
        <p:nvSpPr>
          <p:cNvPr id="52" name="int"/>
          <p:cNvSpPr/>
          <p:nvPr/>
        </p:nvSpPr>
        <p:spPr>
          <a:xfrm>
            <a:off x="6985142" y="3140936"/>
            <a:ext cx="169656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050">
                <a:solidFill>
                  <a:srgbClr val="333333"/>
                </a:solidFill>
                <a:latin typeface="Noto Sans JP"/>
                <a:ea typeface="Noto Sans JP"/>
              </a:rPr>
              <a:t>int</a:t>
            </a:r>
          </a:p>
        </p:txBody>
      </p:sp>
      <p:sp>
        <p:nvSpPr>
          <p:cNvPr id="53" name="id"/>
          <p:cNvSpPr/>
          <p:nvPr/>
        </p:nvSpPr>
        <p:spPr>
          <a:xfrm>
            <a:off x="7549402" y="3140936"/>
            <a:ext cx="116385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050">
                <a:solidFill>
                  <a:srgbClr val="333333"/>
                </a:solidFill>
                <a:latin typeface="Noto Sans JP"/>
                <a:ea typeface="Noto Sans JP"/>
              </a:rPr>
              <a:t>id</a:t>
            </a:r>
          </a:p>
        </p:txBody>
      </p:sp>
      <p:sp>
        <p:nvSpPr>
          <p:cNvPr id="54" name="PK"/>
          <p:cNvSpPr/>
          <p:nvPr/>
        </p:nvSpPr>
        <p:spPr>
          <a:xfrm>
            <a:off x="8103144" y="3140936"/>
            <a:ext cx="156574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050">
                <a:solidFill>
                  <a:srgbClr val="333333"/>
                </a:solidFill>
                <a:latin typeface="Noto Sans JP"/>
                <a:ea typeface="Noto Sans JP"/>
              </a:rPr>
              <a:t>PK</a:t>
            </a:r>
          </a:p>
        </p:txBody>
      </p:sp>
      <p:sp>
        <p:nvSpPr>
          <p:cNvPr id="55" name="string"/>
          <p:cNvSpPr/>
          <p:nvPr/>
        </p:nvSpPr>
        <p:spPr>
          <a:xfrm>
            <a:off x="6985142" y="3509917"/>
            <a:ext cx="348482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050">
                <a:solidFill>
                  <a:srgbClr val="333333"/>
                </a:solidFill>
                <a:latin typeface="Noto Sans JP"/>
                <a:ea typeface="Noto Sans JP"/>
              </a:rPr>
              <a:t>string</a:t>
            </a:r>
          </a:p>
        </p:txBody>
      </p:sp>
      <p:sp>
        <p:nvSpPr>
          <p:cNvPr id="56" name="name"/>
          <p:cNvSpPr/>
          <p:nvPr/>
        </p:nvSpPr>
        <p:spPr>
          <a:xfrm>
            <a:off x="7549402" y="3509917"/>
            <a:ext cx="337963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050">
                <a:solidFill>
                  <a:srgbClr val="333333"/>
                </a:solidFill>
                <a:latin typeface="Noto Sans JP"/>
                <a:ea typeface="Noto Sans JP"/>
              </a:rPr>
              <a:t>name</a:t>
            </a:r>
          </a:p>
        </p:txBody>
      </p:sp>
      <p:sp>
        <p:nvSpPr>
          <p:cNvPr id="57" name="int"/>
          <p:cNvSpPr/>
          <p:nvPr/>
        </p:nvSpPr>
        <p:spPr>
          <a:xfrm>
            <a:off x="6985142" y="3878898"/>
            <a:ext cx="169656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050">
                <a:solidFill>
                  <a:srgbClr val="333333"/>
                </a:solidFill>
                <a:latin typeface="Noto Sans JP"/>
                <a:ea typeface="Noto Sans JP"/>
              </a:rPr>
              <a:t>int</a:t>
            </a:r>
          </a:p>
        </p:txBody>
      </p:sp>
      <p:sp>
        <p:nvSpPr>
          <p:cNvPr id="58" name="price"/>
          <p:cNvSpPr/>
          <p:nvPr/>
        </p:nvSpPr>
        <p:spPr>
          <a:xfrm>
            <a:off x="7549402" y="3878898"/>
            <a:ext cx="313688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050">
                <a:solidFill>
                  <a:srgbClr val="333333"/>
                </a:solidFill>
                <a:latin typeface="Noto Sans JP"/>
                <a:ea typeface="Noto Sans JP"/>
              </a:rPr>
              <a:t>price</a:t>
            </a:r>
          </a:p>
        </p:txBody>
      </p:sp>
      <p:sp>
        <p:nvSpPr>
          <p:cNvPr id="59" name="places"/>
          <p:cNvSpPr/>
          <p:nvPr/>
        </p:nvSpPr>
        <p:spPr>
          <a:xfrm>
            <a:off x="4510514" y="2147276"/>
            <a:ext cx="472259" cy="215778"/>
          </a:xfrm>
          <a:prstGeom prst="roundRect">
            <a:avLst/>
          </a:prstGeom>
          <a:solidFill>
            <a:srgbClr val="E8E8E8">
              <a:alpha val="80000"/>
            </a:srgbClr>
          </a:solidFill>
          <a:ln>
            <a:noFill/>
          </a:ln>
        </p:spPr>
        <p:txBody>
          <a:bodyPr rtlCol="0" anchor="ctr" wrap="none" lIns="0" tIns="0" rIns="0" bIns="0"/>
          <a:lstStyle/>
          <a:p>
            <a:pPr algn="ctr">
              <a:lnSpc>
                <a:spcPct val="150000"/>
              </a:lnSpc>
            </a:pPr>
            <a:r>
              <a:rPr lang="ja-JP" altLang="en-US" sz="1050">
                <a:solidFill>
                  <a:srgbClr val="333333"/>
                </a:solidFill>
                <a:latin typeface="Noto Sans JP"/>
                <a:ea typeface="Noto Sans JP"/>
              </a:rPr>
              <a:t>places</a:t>
            </a:r>
          </a:p>
        </p:txBody>
      </p:sp>
      <p:sp>
        <p:nvSpPr>
          <p:cNvPr id="60" name="contains"/>
          <p:cNvSpPr/>
          <p:nvPr/>
        </p:nvSpPr>
        <p:spPr>
          <a:xfrm>
            <a:off x="4448736" y="4494945"/>
            <a:ext cx="595814" cy="215778"/>
          </a:xfrm>
          <a:prstGeom prst="roundRect">
            <a:avLst/>
          </a:prstGeom>
          <a:solidFill>
            <a:srgbClr val="E8E8E8">
              <a:alpha val="80000"/>
            </a:srgbClr>
          </a:solidFill>
          <a:ln>
            <a:noFill/>
          </a:ln>
        </p:spPr>
        <p:txBody>
          <a:bodyPr rtlCol="0" anchor="ctr" wrap="none" lIns="0" tIns="0" rIns="0" bIns="0"/>
          <a:lstStyle/>
          <a:p>
            <a:pPr algn="ctr">
              <a:lnSpc>
                <a:spcPct val="150000"/>
              </a:lnSpc>
            </a:pPr>
            <a:r>
              <a:rPr lang="ja-JP" altLang="en-US" sz="1050">
                <a:solidFill>
                  <a:srgbClr val="333333"/>
                </a:solidFill>
                <a:latin typeface="Noto Sans JP"/>
                <a:ea typeface="Noto Sans JP"/>
              </a:rPr>
              <a:t>contains</a:t>
            </a:r>
          </a:p>
        </p:txBody>
      </p:sp>
      <p:sp>
        <p:nvSpPr>
          <p:cNvPr id="61" name="ordered in"/>
          <p:cNvSpPr/>
          <p:nvPr/>
        </p:nvSpPr>
        <p:spPr>
          <a:xfrm>
            <a:off x="7262519" y="4494945"/>
            <a:ext cx="719822" cy="215778"/>
          </a:xfrm>
          <a:prstGeom prst="roundRect">
            <a:avLst/>
          </a:prstGeom>
          <a:solidFill>
            <a:srgbClr val="E8E8E8">
              <a:alpha val="80000"/>
            </a:srgbClr>
          </a:solidFill>
          <a:ln>
            <a:noFill/>
          </a:ln>
        </p:spPr>
        <p:txBody>
          <a:bodyPr rtlCol="0" anchor="ctr" wrap="none" lIns="0" tIns="0" rIns="0" bIns="0"/>
          <a:lstStyle/>
          <a:p>
            <a:pPr algn="ctr">
              <a:lnSpc>
                <a:spcPct val="150000"/>
              </a:lnSpc>
            </a:pPr>
            <a:r>
              <a:rPr lang="ja-JP" altLang="en-US" sz="1050">
                <a:solidFill>
                  <a:srgbClr val="333333"/>
                </a:solidFill>
                <a:latin typeface="Noto Sans JP"/>
                <a:ea typeface="Noto Sans JP"/>
              </a:rPr>
              <a:t>ordered 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rmaid2pptx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mermaid2pptx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mermaid2pptx</dc:creator>
</cp:coreProperties>
</file>