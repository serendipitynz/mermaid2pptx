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T"/>
          <p:cNvSpPr/>
          <p:nvPr/>
        </p:nvSpPr>
        <p:spPr>
          <a:xfrm>
            <a:off x="365131" y="3482076"/>
            <a:ext cx="643961" cy="442702"/>
          </a:xfrm>
          <a:prstGeom prst="roundRect">
            <a:avLst>
              <a:gd name="adj" fmla="val 500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開始</a:t>
            </a:r>
          </a:p>
        </p:txBody>
      </p:sp>
      <p:sp>
        <p:nvSpPr>
          <p:cNvPr id="3" name="INPUT"/>
          <p:cNvSpPr/>
          <p:nvPr/>
        </p:nvSpPr>
        <p:spPr>
          <a:xfrm>
            <a:off x="1576659" y="3482076"/>
            <a:ext cx="1691882" cy="442702"/>
          </a:xfrm>
          <a:custGeom>
            <a:avLst/>
            <a:gdLst/>
            <a:ahLst/>
            <a:cxnLst/>
            <a:rect l="0" t="0" r="1691882" b="442702"/>
            <a:pathLst>
              <a:path w="1691882" h="442702">
                <a:moveTo>
                  <a:pt x="0" y="442702"/>
                </a:moveTo>
                <a:lnTo>
                  <a:pt x="1470531" y="442702"/>
                </a:lnTo>
                <a:lnTo>
                  <a:pt x="1691882" y="0"/>
                </a:lnTo>
                <a:lnTo>
                  <a:pt x="221351" y="0"/>
                </a:lnTo>
                <a:close/>
              </a:path>
            </a:pathLst>
          </a:cu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ユーザー入力</a:t>
            </a:r>
          </a:p>
        </p:txBody>
      </p:sp>
      <p:sp>
        <p:nvSpPr>
          <p:cNvPr id="4" name="VALID"/>
          <p:cNvSpPr/>
          <p:nvPr/>
        </p:nvSpPr>
        <p:spPr>
          <a:xfrm>
            <a:off x="3841783" y="2227753"/>
            <a:ext cx="1702701" cy="1702701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5A4500"/>
                </a:solidFill>
                <a:latin typeface="Noto Sans JP"/>
                <a:ea typeface="Noto Sans JP"/>
              </a:rPr>
              <a:t>入力チェック</a:t>
            </a:r>
          </a:p>
        </p:txBody>
      </p:sp>
      <p:sp>
        <p:nvSpPr>
          <p:cNvPr id="5" name="PROC"/>
          <p:cNvSpPr/>
          <p:nvPr/>
        </p:nvSpPr>
        <p:spPr>
          <a:xfrm>
            <a:off x="6345108" y="2608023"/>
            <a:ext cx="1259999" cy="442702"/>
          </a:xfrm>
          <a:custGeom>
            <a:avLst/>
            <a:gdLst/>
            <a:ahLst/>
            <a:cxnLst/>
            <a:rect l="0" t="0" r="1259999" b="442702"/>
            <a:pathLst>
              <a:path w="1259999" h="442702">
                <a:moveTo>
                  <a:pt x="90811" y="442702"/>
                </a:moveTo>
                <a:lnTo>
                  <a:pt x="1169188" y="442702"/>
                </a:lnTo>
                <a:lnTo>
                  <a:pt x="1169188" y="0"/>
                </a:lnTo>
                <a:lnTo>
                  <a:pt x="90811" y="0"/>
                </a:lnTo>
                <a:lnTo>
                  <a:pt x="90811" y="442702"/>
                </a:lnTo>
                <a:lnTo>
                  <a:pt x="0" y="442702"/>
                </a:lnTo>
                <a:lnTo>
                  <a:pt x="1259999" y="442702"/>
                </a:lnTo>
                <a:lnTo>
                  <a:pt x="1259999" y="0"/>
                </a:lnTo>
                <a:lnTo>
                  <a:pt x="0" y="0"/>
                </a:lnTo>
                <a:lnTo>
                  <a:pt x="0" y="442702"/>
                </a:lnTo>
                <a:close/>
              </a:path>
            </a:pathLst>
          </a:cu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1A4314"/>
                </a:solidFill>
                <a:latin typeface="Noto Sans JP"/>
                <a:ea typeface="Noto Sans JP"/>
              </a:rPr>
              <a:t>正規化処理</a:t>
            </a:r>
          </a:p>
        </p:txBody>
      </p:sp>
      <p:sp>
        <p:nvSpPr>
          <p:cNvPr id="6" name="ERR"/>
          <p:cNvSpPr/>
          <p:nvPr/>
        </p:nvSpPr>
        <p:spPr>
          <a:xfrm>
            <a:off x="6620201" y="3920433"/>
            <a:ext cx="709813" cy="709813"/>
          </a:xfrm>
          <a:prstGeom prst="ellipse">
            <a:avLst/>
          </a:prstGeom>
          <a:solidFill>
            <a:srgbClr val="F8D7DA"/>
          </a:solidFill>
          <a:ln w="12700">
            <a:solidFill>
              <a:srgbClr val="D9534F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7A1A1A"/>
                </a:solidFill>
                <a:latin typeface="Noto Sans JP"/>
                <a:ea typeface="Noto Sans JP"/>
              </a:rPr>
              <a:t>エラー</a:t>
            </a:r>
          </a:p>
        </p:txBody>
      </p:sp>
      <p:sp>
        <p:nvSpPr>
          <p:cNvPr id="7" name="DB"/>
          <p:cNvSpPr/>
          <p:nvPr/>
        </p:nvSpPr>
        <p:spPr>
          <a:xfrm>
            <a:off x="8172674" y="2454258"/>
            <a:ext cx="802398" cy="750233"/>
          </a:xfrm>
          <a:prstGeom prst="can">
            <a:avLst>
              <a:gd name="adj" fmla="val 27328"/>
            </a:avLst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1A4314"/>
                </a:solidFill>
                <a:latin typeface="Noto Sans JP"/>
                <a:ea typeface="Noto Sans JP"/>
              </a:rPr>
              <a:t>結果 DB</a:t>
            </a:r>
          </a:p>
        </p:txBody>
      </p:sp>
      <p:sp>
        <p:nvSpPr>
          <p:cNvPr id="8" name="HEX"/>
          <p:cNvSpPr/>
          <p:nvPr/>
        </p:nvSpPr>
        <p:spPr>
          <a:xfrm>
            <a:off x="9542639" y="2471807"/>
            <a:ext cx="1072702" cy="715134"/>
          </a:xfrm>
          <a:prstGeom prst="hexagon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後処理</a:t>
            </a:r>
          </a:p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バッチ</a:t>
            </a:r>
          </a:p>
        </p:txBody>
      </p:sp>
      <p:sp>
        <p:nvSpPr>
          <p:cNvPr id="9" name="DONE"/>
          <p:cNvSpPr/>
          <p:nvPr/>
        </p:nvSpPr>
        <p:spPr>
          <a:xfrm>
            <a:off x="11182908" y="2608023"/>
            <a:ext cx="643961" cy="44270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4C9A2A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1A4314"/>
                </a:solidFill>
                <a:latin typeface="Noto Sans JP"/>
                <a:ea typeface="Noto Sans JP"/>
              </a:rPr>
              <a:t>完了</a:t>
            </a:r>
          </a:p>
        </p:txBody>
      </p:sp>
      <p:cxnSp>
        <p:nvCxnSpPr>
          <p:cNvPr id="10" name="edge START-INPUT"/>
          <p:cNvCxnSpPr>
            <a:cxnSpLocks/>
            <a:stCxn id="2" idx="3"/>
            <a:endCxn id="3" idx="1"/>
          </p:cNvCxnSpPr>
          <p:nvPr/>
        </p:nvCxnSpPr>
        <p:spPr>
          <a:xfrm>
            <a:off x="1014767" y="3709103"/>
            <a:ext cx="678243" cy="0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INPUT-VALID"/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3128137" y="2779781"/>
            <a:ext cx="408648" cy="100729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VALID-PROC"/>
          <p:cNvCxnSpPr>
            <a:cxnSpLocks/>
            <a:stCxn id="4" idx="3"/>
            <a:endCxn id="5" idx="1"/>
          </p:cNvCxnSpPr>
          <p:nvPr/>
        </p:nvCxnSpPr>
        <p:spPr>
          <a:xfrm flipV="1">
            <a:off x="5397469" y="2835050"/>
            <a:ext cx="953315" cy="102714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VALID-ERR"/>
          <p:cNvCxnSpPr>
            <a:cxnSpLocks/>
            <a:stCxn id="4" idx="3"/>
            <a:endCxn id="6" idx="1"/>
          </p:cNvCxnSpPr>
          <p:nvPr/>
        </p:nvCxnSpPr>
        <p:spPr>
          <a:xfrm>
            <a:off x="5272222" y="3345691"/>
            <a:ext cx="1399132" cy="746093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ERR-INPUT"/>
          <p:cNvCxnSpPr>
            <a:cxnSpLocks/>
            <a:stCxn id="6" idx="1"/>
            <a:endCxn id="3" idx="2"/>
          </p:cNvCxnSpPr>
          <p:nvPr/>
        </p:nvCxnSpPr>
        <p:spPr>
          <a:xfrm flipH="1" flipV="1">
            <a:off x="2760133" y="3930454"/>
            <a:ext cx="3865428" cy="40633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PROC-DB"/>
          <p:cNvCxnSpPr>
            <a:cxnSpLocks/>
            <a:stCxn id="5" idx="3"/>
            <a:endCxn id="7" idx="1"/>
          </p:cNvCxnSpPr>
          <p:nvPr/>
        </p:nvCxnSpPr>
        <p:spPr>
          <a:xfrm flipV="1">
            <a:off x="7610783" y="2829374"/>
            <a:ext cx="561891" cy="567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DB-HEX"/>
          <p:cNvCxnSpPr>
            <a:cxnSpLocks/>
            <a:stCxn id="7" idx="3"/>
            <a:endCxn id="8" idx="1"/>
          </p:cNvCxnSpPr>
          <p:nvPr/>
        </p:nvCxnSpPr>
        <p:spPr>
          <a:xfrm>
            <a:off x="8975072" y="2829374"/>
            <a:ext cx="573243" cy="567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HEX-DONE"/>
          <p:cNvCxnSpPr>
            <a:cxnSpLocks/>
            <a:stCxn id="8" idx="3"/>
            <a:endCxn id="9" idx="1"/>
          </p:cNvCxnSpPr>
          <p:nvPr/>
        </p:nvCxnSpPr>
        <p:spPr>
          <a:xfrm>
            <a:off x="10621016" y="2835050"/>
            <a:ext cx="567567" cy="0"/>
          </a:xfrm>
          <a:prstGeom prst="straightConnector1">
            <a:avLst/>
          </a:prstGeom>
          <a:ln w="254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18" name="OK"/>
          <p:cNvSpPr/>
          <p:nvPr/>
        </p:nvSpPr>
        <p:spPr>
          <a:xfrm>
            <a:off x="5752224" y="2653262"/>
            <a:ext cx="379468" cy="352225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OK</a:t>
            </a:r>
          </a:p>
        </p:txBody>
      </p:sp>
      <p:sp>
        <p:nvSpPr>
          <p:cNvPr id="19" name="NG"/>
          <p:cNvSpPr/>
          <p:nvPr/>
        </p:nvSpPr>
        <p:spPr>
          <a:xfrm>
            <a:off x="5795386" y="3504947"/>
            <a:ext cx="392579" cy="352225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