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luster BACK"/>
          <p:cNvSpPr/>
          <p:nvPr/>
        </p:nvSpPr>
        <p:spPr>
          <a:xfrm>
            <a:off x="3266819" y="4203052"/>
            <a:ext cx="5658362" cy="2331210"/>
          </a:xfrm>
          <a:prstGeom prst="roundRect">
            <a:avLst>
              <a:gd name="adj" fmla="val 5844"/>
            </a:avLst>
          </a:prstGeom>
          <a:solidFill>
            <a:srgbClr val="FFFFDE"/>
          </a:solidFill>
          <a:ln w="12700">
            <a:solidFill>
              <a:srgbClr val="AAAA33"/>
            </a:solidFill>
          </a:ln>
        </p:spPr>
        <p:txBody>
          <a:bodyPr rtlCol="0" anchor="t" wrap="none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750">
                <a:solidFill>
                  <a:srgbClr val="333333"/>
                </a:solidFill>
                <a:latin typeface="Noto Sans JP"/>
                <a:ea typeface="Noto Sans JP"/>
              </a:rPr>
              <a:t>バックエンド</a:t>
            </a:r>
          </a:p>
        </p:txBody>
      </p:sp>
      <p:sp>
        <p:nvSpPr>
          <p:cNvPr id="3" name="cluster FRONT"/>
          <p:cNvSpPr/>
          <p:nvPr/>
        </p:nvSpPr>
        <p:spPr>
          <a:xfrm>
            <a:off x="5669770" y="323738"/>
            <a:ext cx="3156575" cy="3422197"/>
          </a:xfrm>
          <a:prstGeom prst="roundRect">
            <a:avLst>
              <a:gd name="adj" fmla="val 5844"/>
            </a:avLst>
          </a:prstGeom>
          <a:solidFill>
            <a:srgbClr val="FFFFDE"/>
          </a:solidFill>
          <a:ln w="12700">
            <a:solidFill>
              <a:srgbClr val="AAAA33"/>
            </a:solidFill>
          </a:ln>
        </p:spPr>
        <p:txBody>
          <a:bodyPr rtlCol="0" anchor="t" wrap="none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750">
                <a:solidFill>
                  <a:srgbClr val="333333"/>
                </a:solidFill>
                <a:latin typeface="Noto Sans JP"/>
                <a:ea typeface="Noto Sans JP"/>
              </a:rPr>
              <a:t>フロントエンド</a:t>
            </a:r>
          </a:p>
        </p:txBody>
      </p:sp>
      <p:sp>
        <p:nvSpPr>
          <p:cNvPr id="4" name="FORM"/>
          <p:cNvSpPr/>
          <p:nvPr/>
        </p:nvSpPr>
        <p:spPr>
          <a:xfrm>
            <a:off x="6151595" y="478169"/>
            <a:ext cx="1914948" cy="630080"/>
          </a:xfrm>
          <a:prstGeom prst="roundRect">
            <a:avLst/>
          </a:prstGeom>
          <a:solidFill>
            <a:srgbClr val="E7EEFB"/>
          </a:solidFill>
          <a:ln w="12700">
            <a:solidFill>
              <a:srgbClr val="5B7FD0"/>
            </a:solidFill>
          </a:ln>
        </p:spPr>
        <p:txBody>
          <a:bodyPr rtlCol="0" anchor="ctr" wrap="none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750">
                <a:solidFill>
                  <a:srgbClr val="1A1A1A"/>
                </a:solidFill>
                <a:latin typeface="Noto Sans JP"/>
                <a:ea typeface="Noto Sans JP"/>
              </a:rPr>
              <a:t>問い合わせフォーム 氏名やメール</a:t>
            </a:r>
          </a:p>
          <a:p>
            <a:pPr algn="ctr">
              <a:lnSpc>
                <a:spcPct val="150000"/>
              </a:lnSpc>
            </a:pPr>
            <a:r>
              <a:rPr lang="ja-JP" altLang="en-US" sz="750">
                <a:solidFill>
                  <a:srgbClr val="1A1A1A"/>
                </a:solidFill>
                <a:latin typeface="Noto Sans JP"/>
                <a:ea typeface="Noto Sans JP"/>
              </a:rPr>
              <a:t>アドレスなど送信前に必ず検証す</a:t>
            </a:r>
          </a:p>
          <a:p>
            <a:pPr algn="ctr">
              <a:lnSpc>
                <a:spcPct val="150000"/>
              </a:lnSpc>
            </a:pPr>
            <a:r>
              <a:rPr lang="ja-JP" altLang="en-US" sz="750">
                <a:solidFill>
                  <a:srgbClr val="1A1A1A"/>
                </a:solidFill>
                <a:latin typeface="Noto Sans JP"/>
                <a:ea typeface="Noto Sans JP"/>
              </a:rPr>
              <a:t>る入力項目を含む</a:t>
            </a:r>
          </a:p>
        </p:txBody>
      </p:sp>
      <p:sp>
        <p:nvSpPr>
          <p:cNvPr id="5" name="DRAFT"/>
          <p:cNvSpPr/>
          <p:nvPr/>
        </p:nvSpPr>
        <p:spPr>
          <a:xfrm>
            <a:off x="6046582" y="2263395"/>
            <a:ext cx="1914948" cy="630080"/>
          </a:xfrm>
          <a:prstGeom prst="round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rtlCol="0" anchor="ctr" wrap="none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750">
                <a:solidFill>
                  <a:srgbClr val="333333"/>
                </a:solidFill>
                <a:latin typeface="Noto Sans JP"/>
                <a:ea typeface="Noto Sans JP"/>
              </a:rPr>
              <a:t>下書き保存 ブラウザのローカルス</a:t>
            </a:r>
          </a:p>
          <a:p>
            <a:pPr algn="ctr">
              <a:lnSpc>
                <a:spcPct val="150000"/>
              </a:lnSpc>
            </a:pPr>
            <a:r>
              <a:rPr lang="ja-JP" altLang="en-US" sz="750">
                <a:solidFill>
                  <a:srgbClr val="333333"/>
                </a:solidFill>
                <a:latin typeface="Noto Sans JP"/>
                <a:ea typeface="Noto Sans JP"/>
              </a:rPr>
              <a:t>トレージに一時保存し再読み込み</a:t>
            </a:r>
          </a:p>
          <a:p>
            <a:pPr algn="ctr">
              <a:lnSpc>
                <a:spcPct val="150000"/>
              </a:lnSpc>
            </a:pPr>
            <a:r>
              <a:rPr lang="ja-JP" altLang="en-US" sz="750">
                <a:solidFill>
                  <a:srgbClr val="333333"/>
                </a:solidFill>
                <a:latin typeface="Noto Sans JP"/>
                <a:ea typeface="Noto Sans JP"/>
              </a:rPr>
              <a:t>時に復元する</a:t>
            </a:r>
          </a:p>
        </p:txBody>
      </p:sp>
      <p:sp>
        <p:nvSpPr>
          <p:cNvPr id="6" name="GATE"/>
          <p:cNvSpPr/>
          <p:nvPr/>
        </p:nvSpPr>
        <p:spPr>
          <a:xfrm>
            <a:off x="3430516" y="1565365"/>
            <a:ext cx="2026138" cy="2026138"/>
          </a:xfrm>
          <a:prstGeom prst="diamond">
            <a:avLst/>
          </a:prstGeom>
          <a:solidFill>
            <a:srgbClr val="FFF3CD"/>
          </a:solidFill>
          <a:ln w="12700">
            <a:solidFill>
              <a:srgbClr val="E0A800"/>
            </a:solidFill>
          </a:ln>
        </p:spPr>
        <p:txBody>
          <a:bodyPr rtlCol="0" anchor="ctr" wrap="none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750">
                <a:solidFill>
                  <a:srgbClr val="5A4500"/>
                </a:solidFill>
                <a:latin typeface="Noto Sans JP"/>
                <a:ea typeface="Noto Sans JP"/>
              </a:rPr>
              <a:t>送信内容の検証 必須項目の欠落や</a:t>
            </a:r>
          </a:p>
          <a:p>
            <a:pPr algn="ctr">
              <a:lnSpc>
                <a:spcPct val="150000"/>
              </a:lnSpc>
            </a:pPr>
            <a:r>
              <a:rPr lang="ja-JP" altLang="en-US" sz="750">
                <a:solidFill>
                  <a:srgbClr val="5A4500"/>
                </a:solidFill>
                <a:latin typeface="Noto Sans JP"/>
                <a:ea typeface="Noto Sans JP"/>
              </a:rPr>
              <a:t>形式不正を検出したら差し戻す</a:t>
            </a:r>
          </a:p>
        </p:txBody>
      </p:sp>
      <p:sp>
        <p:nvSpPr>
          <p:cNvPr id="7" name="API"/>
          <p:cNvSpPr/>
          <p:nvPr/>
        </p:nvSpPr>
        <p:spPr>
          <a:xfrm>
            <a:off x="3483023" y="4357483"/>
            <a:ext cx="1914948" cy="481826"/>
          </a:xfrm>
          <a:prstGeom prst="round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rtlCol="0" anchor="ctr" wrap="none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750">
                <a:solidFill>
                  <a:srgbClr val="333333"/>
                </a:solidFill>
                <a:latin typeface="Noto Sans JP"/>
                <a:ea typeface="Noto Sans JP"/>
              </a:rPr>
              <a:t>受付 API 正規化とレート制限を</a:t>
            </a:r>
          </a:p>
          <a:p>
            <a:pPr algn="ctr">
              <a:lnSpc>
                <a:spcPct val="150000"/>
              </a:lnSpc>
            </a:pPr>
            <a:r>
              <a:rPr lang="ja-JP" altLang="en-US" sz="750">
                <a:solidFill>
                  <a:srgbClr val="333333"/>
                </a:solidFill>
                <a:latin typeface="Noto Sans JP"/>
                <a:ea typeface="Noto Sans JP"/>
              </a:rPr>
              <a:t>通過したリクエストのみ処理する</a:t>
            </a:r>
          </a:p>
        </p:txBody>
      </p:sp>
      <p:sp>
        <p:nvSpPr>
          <p:cNvPr id="8" name="QUEUE"/>
          <p:cNvSpPr/>
          <p:nvPr/>
        </p:nvSpPr>
        <p:spPr>
          <a:xfrm>
            <a:off x="4147077" y="5148171"/>
            <a:ext cx="586839" cy="440971"/>
          </a:xfrm>
          <a:prstGeom prst="can">
            <a:avLst>
              <a:gd name="adj" fmla="val 30245"/>
            </a:avLst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rtlCol="0" anchor="ctr" wrap="none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750">
                <a:solidFill>
                  <a:srgbClr val="333333"/>
                </a:solidFill>
                <a:latin typeface="Noto Sans JP"/>
                <a:ea typeface="Noto Sans JP"/>
              </a:rPr>
              <a:t>処理キュー</a:t>
            </a:r>
          </a:p>
        </p:txBody>
      </p:sp>
      <p:sp>
        <p:nvSpPr>
          <p:cNvPr id="9" name="WORKER"/>
          <p:cNvSpPr/>
          <p:nvPr/>
        </p:nvSpPr>
        <p:spPr>
          <a:xfrm>
            <a:off x="5271337" y="5898005"/>
            <a:ext cx="1914948" cy="481826"/>
          </a:xfrm>
          <a:prstGeom prst="roundRect">
            <a:avLst/>
          </a:prstGeom>
          <a:solidFill>
            <a:srgbClr val="ECECFF"/>
          </a:solidFill>
          <a:ln w="12700">
            <a:solidFill>
              <a:srgbClr val="9370DB"/>
            </a:solidFill>
          </a:ln>
        </p:spPr>
        <p:txBody>
          <a:bodyPr rtlCol="0" anchor="ctr" wrap="none" lIns="18288" tIns="9144" rIns="18288" bIns="9144"/>
          <a:lstStyle/>
          <a:p>
            <a:pPr algn="ctr">
              <a:lnSpc>
                <a:spcPct val="150000"/>
              </a:lnSpc>
            </a:pPr>
            <a:r>
              <a:rPr lang="ja-JP" altLang="en-US" sz="750">
                <a:solidFill>
                  <a:srgbClr val="333333"/>
                </a:solidFill>
                <a:latin typeface="Noto Sans JP"/>
                <a:ea typeface="Noto Sans JP"/>
              </a:rPr>
              <a:t>非同期ワーカー 添付ファイルの変</a:t>
            </a:r>
          </a:p>
          <a:p>
            <a:pPr algn="ctr">
              <a:lnSpc>
                <a:spcPct val="150000"/>
              </a:lnSpc>
            </a:pPr>
            <a:r>
              <a:rPr lang="ja-JP" altLang="en-US" sz="750">
                <a:solidFill>
                  <a:srgbClr val="333333"/>
                </a:solidFill>
                <a:latin typeface="Noto Sans JP"/>
                <a:ea typeface="Noto Sans JP"/>
              </a:rPr>
              <a:t>換と通知メールの送信を行う</a:t>
            </a:r>
          </a:p>
        </p:txBody>
      </p:sp>
      <p:cxnSp>
        <p:nvCxnSpPr>
          <p:cNvPr id="10" name="edge FORM-DRAFT"/>
          <p:cNvCxnSpPr>
            <a:cxnSpLocks/>
            <a:stCxn id="4" idx="2"/>
            <a:endCxn id="5" idx="0"/>
          </p:cNvCxnSpPr>
          <p:nvPr/>
        </p:nvCxnSpPr>
        <p:spPr>
          <a:xfrm rot="5400000">
            <a:off x="6448559" y="1663746"/>
            <a:ext cx="1155146" cy="44153"/>
          </a:xfrm>
          <a:prstGeom prst="curvedConnector3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1" name="edge API-QUEUE"/>
          <p:cNvCxnSpPr>
            <a:cxnSpLocks/>
            <a:stCxn id="7" idx="2"/>
            <a:endCxn id="8" idx="0"/>
          </p:cNvCxnSpPr>
          <p:nvPr/>
        </p:nvCxnSpPr>
        <p:spPr>
          <a:xfrm>
            <a:off x="4440497" y="4839309"/>
            <a:ext cx="0" cy="308862"/>
          </a:xfrm>
          <a:prstGeom prst="straightConnector1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2" name="edge QUEUE-WORKER"/>
          <p:cNvCxnSpPr>
            <a:cxnSpLocks/>
            <a:stCxn id="8" idx="2"/>
            <a:endCxn id="9" idx="1"/>
          </p:cNvCxnSpPr>
          <p:nvPr/>
        </p:nvCxnSpPr>
        <p:spPr>
          <a:xfrm rot="5400000" flipV="1">
            <a:off x="4686865" y="5342775"/>
            <a:ext cx="338105" cy="830840"/>
          </a:xfrm>
          <a:prstGeom prst="curvedConnector2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3" name="edge FORM-GATE"/>
          <p:cNvCxnSpPr>
            <a:cxnSpLocks/>
            <a:stCxn id="4" idx="2"/>
            <a:endCxn id="6" idx="3"/>
          </p:cNvCxnSpPr>
          <p:nvPr/>
        </p:nvCxnSpPr>
        <p:spPr>
          <a:xfrm rot="5400000">
            <a:off x="5270566" y="866141"/>
            <a:ext cx="1045077" cy="1529292"/>
          </a:xfrm>
          <a:prstGeom prst="curvedConnector2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4" name="edge GATE-FORM"/>
          <p:cNvCxnSpPr>
            <a:cxnSpLocks/>
            <a:stCxn id="6" idx="3"/>
            <a:endCxn id="4" idx="2"/>
          </p:cNvCxnSpPr>
          <p:nvPr/>
        </p:nvCxnSpPr>
        <p:spPr>
          <a:xfrm flipV="1">
            <a:off x="5081305" y="1108249"/>
            <a:ext cx="1719884" cy="1097924"/>
          </a:xfrm>
          <a:prstGeom prst="curvedConnector2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5" name="edge GATE-API"/>
          <p:cNvCxnSpPr>
            <a:cxnSpLocks/>
            <a:stCxn id="6" idx="2"/>
            <a:endCxn id="7" idx="0"/>
          </p:cNvCxnSpPr>
          <p:nvPr/>
        </p:nvCxnSpPr>
        <p:spPr>
          <a:xfrm>
            <a:off x="4440497" y="3591504"/>
            <a:ext cx="0" cy="765979"/>
          </a:xfrm>
          <a:prstGeom prst="straightConnector1">
            <a:avLst/>
          </a:prstGeom>
          <a:ln w="12700" cap="flat">
            <a:solidFill>
              <a:srgbClr val="333333"/>
            </a:solidFill>
            <a:round/>
            <a:headEnd type="none"/>
            <a:tailEnd type="triangle"/>
          </a:ln>
        </p:spPr>
      </p:cxnSp>
      <p:cxnSp>
        <p:nvCxnSpPr>
          <p:cNvPr id="16" name="edge WORKER-FORM"/>
          <p:cNvCxnSpPr>
            <a:cxnSpLocks/>
            <a:stCxn id="9" idx="3"/>
            <a:endCxn id="4" idx="2"/>
          </p:cNvCxnSpPr>
          <p:nvPr/>
        </p:nvCxnSpPr>
        <p:spPr>
          <a:xfrm flipV="1">
            <a:off x="7186285" y="1108249"/>
            <a:ext cx="542124" cy="4836443"/>
          </a:xfrm>
          <a:prstGeom prst="curvedConnector2">
            <a:avLst/>
          </a:prstGeom>
          <a:ln w="12700" cap="flat">
            <a:solidFill>
              <a:srgbClr val="333333"/>
            </a:solidFill>
            <a:prstDash val="dash"/>
            <a:round/>
            <a:headEnd type="none"/>
            <a:tailEnd type="triangle"/>
          </a:ln>
        </p:spPr>
      </p:cxnSp>
      <p:sp>
        <p:nvSpPr>
          <p:cNvPr id="17" name="送信"/>
          <p:cNvSpPr/>
          <p:nvPr/>
        </p:nvSpPr>
        <p:spPr>
          <a:xfrm>
            <a:off x="5635012" y="1514270"/>
            <a:ext cx="289524" cy="191676"/>
          </a:xfrm>
          <a:prstGeom prst="roundRect">
            <a:avLst/>
          </a:prstGeom>
          <a:solidFill>
            <a:srgbClr val="E8E8E8">
              <a:alpha val="80000"/>
            </a:srgbClr>
          </a:solidFill>
          <a:ln>
            <a:noFill/>
          </a:ln>
        </p:spPr>
        <p:txBody>
          <a:bodyPr rtlCol="0" anchor="ctr" wrap="none" lIns="0" tIns="0" rIns="0" bIns="0"/>
          <a:lstStyle/>
          <a:p>
            <a:pPr algn="ctr">
              <a:lnSpc>
                <a:spcPct val="150000"/>
              </a:lnSpc>
            </a:pPr>
            <a:r>
              <a:rPr lang="ja-JP" altLang="en-US" sz="750">
                <a:solidFill>
                  <a:srgbClr val="333333"/>
                </a:solidFill>
                <a:latin typeface="Noto Sans JP"/>
                <a:ea typeface="Noto Sans JP"/>
              </a:rPr>
              <a:t>送信</a:t>
            </a:r>
          </a:p>
        </p:txBody>
      </p:sp>
      <p:sp>
        <p:nvSpPr>
          <p:cNvPr id="18" name="差し戻し"/>
          <p:cNvSpPr/>
          <p:nvPr/>
        </p:nvSpPr>
        <p:spPr>
          <a:xfrm>
            <a:off x="5712274" y="1595387"/>
            <a:ext cx="510917" cy="191676"/>
          </a:xfrm>
          <a:prstGeom prst="roundRect">
            <a:avLst/>
          </a:prstGeom>
          <a:solidFill>
            <a:srgbClr val="E8E8E8">
              <a:alpha val="80000"/>
            </a:srgbClr>
          </a:solidFill>
          <a:ln>
            <a:noFill/>
          </a:ln>
        </p:spPr>
        <p:txBody>
          <a:bodyPr rtlCol="0" anchor="ctr" wrap="none" lIns="0" tIns="0" rIns="0" bIns="0"/>
          <a:lstStyle/>
          <a:p>
            <a:pPr algn="ctr">
              <a:lnSpc>
                <a:spcPct val="150000"/>
              </a:lnSpc>
            </a:pPr>
            <a:r>
              <a:rPr lang="ja-JP" altLang="en-US" sz="750">
                <a:solidFill>
                  <a:srgbClr val="333333"/>
                </a:solidFill>
                <a:latin typeface="Noto Sans JP"/>
                <a:ea typeface="Noto Sans JP"/>
              </a:rPr>
              <a:t>差し戻し</a:t>
            </a:r>
          </a:p>
        </p:txBody>
      </p:sp>
      <p:sp>
        <p:nvSpPr>
          <p:cNvPr id="19" name="受理"/>
          <p:cNvSpPr/>
          <p:nvPr/>
        </p:nvSpPr>
        <p:spPr>
          <a:xfrm>
            <a:off x="4295735" y="3878655"/>
            <a:ext cx="289524" cy="191676"/>
          </a:xfrm>
          <a:prstGeom prst="roundRect">
            <a:avLst/>
          </a:prstGeom>
          <a:solidFill>
            <a:srgbClr val="E8E8E8">
              <a:alpha val="80000"/>
            </a:srgbClr>
          </a:solidFill>
          <a:ln>
            <a:noFill/>
          </a:ln>
        </p:spPr>
        <p:txBody>
          <a:bodyPr rtlCol="0" anchor="ctr" wrap="none" lIns="0" tIns="0" rIns="0" bIns="0"/>
          <a:lstStyle/>
          <a:p>
            <a:pPr algn="ctr">
              <a:lnSpc>
                <a:spcPct val="150000"/>
              </a:lnSpc>
            </a:pPr>
            <a:r>
              <a:rPr lang="ja-JP" altLang="en-US" sz="750">
                <a:solidFill>
                  <a:srgbClr val="333333"/>
                </a:solidFill>
                <a:latin typeface="Noto Sans JP"/>
                <a:ea typeface="Noto Sans JP"/>
              </a:rPr>
              <a:t>受理</a:t>
            </a:r>
          </a:p>
        </p:txBody>
      </p:sp>
      <p:sp>
        <p:nvSpPr>
          <p:cNvPr id="20" name="完了通知"/>
          <p:cNvSpPr/>
          <p:nvPr/>
        </p:nvSpPr>
        <p:spPr>
          <a:xfrm>
            <a:off x="7922275" y="4502558"/>
            <a:ext cx="510917" cy="191676"/>
          </a:xfrm>
          <a:prstGeom prst="roundRect">
            <a:avLst/>
          </a:prstGeom>
          <a:solidFill>
            <a:srgbClr val="E8E8E8">
              <a:alpha val="80000"/>
            </a:srgbClr>
          </a:solidFill>
          <a:ln>
            <a:noFill/>
          </a:ln>
        </p:spPr>
        <p:txBody>
          <a:bodyPr rtlCol="0" anchor="ctr" wrap="none" lIns="0" tIns="0" rIns="0" bIns="0"/>
          <a:lstStyle/>
          <a:p>
            <a:pPr algn="ctr">
              <a:lnSpc>
                <a:spcPct val="150000"/>
              </a:lnSpc>
            </a:pPr>
            <a:r>
              <a:rPr lang="ja-JP" altLang="en-US" sz="750">
                <a:solidFill>
                  <a:srgbClr val="333333"/>
                </a:solidFill>
                <a:latin typeface="Noto Sans JP"/>
                <a:ea typeface="Noto Sans JP"/>
              </a:rPr>
              <a:t>完了通知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mermaid2pptx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 cmpd="sng" algn="ctr">
          <a:solidFill>
            <a:schemeClr val="phClr"/>
          </a:solidFill>
          <a:prstDash val="solid"/>
        </a:ln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Application>mermaid2pptx</Applicat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mermaid2pptx</dc:creator>
</cp:coreProperties>
</file>