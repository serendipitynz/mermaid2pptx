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uster OUTER"/>
          <p:cNvSpPr/>
          <p:nvPr/>
        </p:nvSpPr>
        <p:spPr>
          <a:xfrm>
            <a:off x="3887942" y="1784714"/>
            <a:ext cx="4416116" cy="3546826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システム全体</a:t>
            </a:r>
          </a:p>
        </p:txBody>
      </p:sp>
      <p:sp>
        <p:nvSpPr>
          <p:cNvPr id="3" name="cluster DATA"/>
          <p:cNvSpPr/>
          <p:nvPr/>
        </p:nvSpPr>
        <p:spPr>
          <a:xfrm>
            <a:off x="4195505" y="4187257"/>
            <a:ext cx="3640896" cy="948636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データ層</a:t>
            </a:r>
          </a:p>
        </p:txBody>
      </p:sp>
      <p:sp>
        <p:nvSpPr>
          <p:cNvPr id="4" name="cluster WEB"/>
          <p:cNvSpPr/>
          <p:nvPr/>
        </p:nvSpPr>
        <p:spPr>
          <a:xfrm>
            <a:off x="4044459" y="1980360"/>
            <a:ext cx="4024822" cy="1627782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Web 層</a:t>
            </a:r>
          </a:p>
        </p:txBody>
      </p:sp>
      <p:sp>
        <p:nvSpPr>
          <p:cNvPr id="5" name="CLIENT"/>
          <p:cNvSpPr/>
          <p:nvPr/>
        </p:nvSpPr>
        <p:spPr>
          <a:xfrm>
            <a:off x="5630361" y="336927"/>
            <a:ext cx="868672" cy="868672"/>
          </a:xfrm>
          <a:prstGeom prst="ellipse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クライアント</a:t>
            </a:r>
          </a:p>
        </p:txBody>
      </p:sp>
      <p:sp>
        <p:nvSpPr>
          <p:cNvPr id="6" name="LB"/>
          <p:cNvSpPr/>
          <p:nvPr/>
        </p:nvSpPr>
        <p:spPr>
          <a:xfrm>
            <a:off x="5394117" y="2176007"/>
            <a:ext cx="1341159" cy="42259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ロードバランサ</a:t>
            </a:r>
          </a:p>
        </p:txBody>
      </p:sp>
      <p:sp>
        <p:nvSpPr>
          <p:cNvPr id="7" name="APP1"/>
          <p:cNvSpPr/>
          <p:nvPr/>
        </p:nvSpPr>
        <p:spPr>
          <a:xfrm>
            <a:off x="4854743" y="2989898"/>
            <a:ext cx="1014307" cy="42259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アプリ #1</a:t>
            </a:r>
          </a:p>
        </p:txBody>
      </p:sp>
      <p:sp>
        <p:nvSpPr>
          <p:cNvPr id="8" name="APP2"/>
          <p:cNvSpPr/>
          <p:nvPr/>
        </p:nvSpPr>
        <p:spPr>
          <a:xfrm>
            <a:off x="6260343" y="2989898"/>
            <a:ext cx="1014307" cy="42259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アプリ #2</a:t>
            </a:r>
          </a:p>
        </p:txBody>
      </p:sp>
      <p:sp>
        <p:nvSpPr>
          <p:cNvPr id="9" name="PG"/>
          <p:cNvSpPr/>
          <p:nvPr/>
        </p:nvSpPr>
        <p:spPr>
          <a:xfrm>
            <a:off x="4633418" y="4382875"/>
            <a:ext cx="736977" cy="557401"/>
          </a:xfrm>
          <a:prstGeom prst="can">
            <a:avLst>
              <a:gd name="adj" fmla="val 30163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PostgreSQL</a:t>
            </a:r>
          </a:p>
        </p:txBody>
      </p:sp>
      <p:sp>
        <p:nvSpPr>
          <p:cNvPr id="10" name="REDIS"/>
          <p:cNvSpPr/>
          <p:nvPr/>
        </p:nvSpPr>
        <p:spPr>
          <a:xfrm>
            <a:off x="6922669" y="4422352"/>
            <a:ext cx="409636" cy="478447"/>
          </a:xfrm>
          <a:prstGeom prst="can">
            <a:avLst>
              <a:gd name="adj" fmla="val 28194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Redis</a:t>
            </a:r>
          </a:p>
        </p:txBody>
      </p:sp>
      <p:sp>
        <p:nvSpPr>
          <p:cNvPr id="11" name="BK"/>
          <p:cNvSpPr/>
          <p:nvPr/>
        </p:nvSpPr>
        <p:spPr>
          <a:xfrm>
            <a:off x="4395218" y="5910655"/>
            <a:ext cx="1213377" cy="610418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バックアップ</a:t>
            </a:r>
          </a:p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ストレージ</a:t>
            </a:r>
          </a:p>
        </p:txBody>
      </p:sp>
      <p:cxnSp>
        <p:nvCxnSpPr>
          <p:cNvPr id="12" name="edge CLIENT-LB"/>
          <p:cNvCxnSpPr>
            <a:cxnSpLocks/>
            <a:stCxn id="5" idx="2"/>
            <a:endCxn id="6" idx="0"/>
          </p:cNvCxnSpPr>
          <p:nvPr/>
        </p:nvCxnSpPr>
        <p:spPr>
          <a:xfrm>
            <a:off x="6064697" y="1205599"/>
            <a:ext cx="0" cy="970408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LB-APP1"/>
          <p:cNvCxnSpPr>
            <a:cxnSpLocks/>
            <a:stCxn id="6" idx="2"/>
            <a:endCxn id="7" idx="0"/>
          </p:cNvCxnSpPr>
          <p:nvPr/>
        </p:nvCxnSpPr>
        <p:spPr>
          <a:xfrm rot="5400000">
            <a:off x="5335192" y="2625309"/>
            <a:ext cx="391293" cy="337885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LB-APP2"/>
          <p:cNvCxnSpPr>
            <a:cxnSpLocks/>
            <a:stCxn id="6" idx="2"/>
            <a:endCxn id="8" idx="0"/>
          </p:cNvCxnSpPr>
          <p:nvPr/>
        </p:nvCxnSpPr>
        <p:spPr>
          <a:xfrm rot="5400000" flipV="1">
            <a:off x="6402908" y="2625309"/>
            <a:ext cx="391293" cy="337885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APP1-PG"/>
          <p:cNvCxnSpPr>
            <a:cxnSpLocks/>
            <a:stCxn id="7" idx="2"/>
            <a:endCxn id="9" idx="0"/>
          </p:cNvCxnSpPr>
          <p:nvPr/>
        </p:nvCxnSpPr>
        <p:spPr>
          <a:xfrm rot="5400000">
            <a:off x="4415117" y="3806174"/>
            <a:ext cx="982877" cy="195518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APP2-PG"/>
          <p:cNvCxnSpPr>
            <a:cxnSpLocks/>
            <a:stCxn id="8" idx="1"/>
            <a:endCxn id="9" idx="3"/>
          </p:cNvCxnSpPr>
          <p:nvPr/>
        </p:nvCxnSpPr>
        <p:spPr>
          <a:xfrm flipH="1">
            <a:off x="5370395" y="3395387"/>
            <a:ext cx="889948" cy="1101560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7" name="edge APP1-REDIS"/>
          <p:cNvCxnSpPr>
            <a:cxnSpLocks/>
            <a:stCxn id="7" idx="3"/>
            <a:endCxn id="10" idx="1"/>
          </p:cNvCxnSpPr>
          <p:nvPr/>
        </p:nvCxnSpPr>
        <p:spPr>
          <a:xfrm>
            <a:off x="5869050" y="3395387"/>
            <a:ext cx="1053619" cy="1127957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18" name="edge APP2-REDIS"/>
          <p:cNvCxnSpPr>
            <a:cxnSpLocks/>
            <a:stCxn id="8" idx="2"/>
            <a:endCxn id="10" idx="3"/>
          </p:cNvCxnSpPr>
          <p:nvPr/>
        </p:nvCxnSpPr>
        <p:spPr>
          <a:xfrm rot="5400000" flipV="1">
            <a:off x="6715126" y="3854955"/>
            <a:ext cx="1052155" cy="167234"/>
          </a:xfrm>
          <a:prstGeom prst="curvedConnector2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19" name="edge PG-BK"/>
          <p:cNvCxnSpPr>
            <a:cxnSpLocks/>
            <a:stCxn id="9" idx="2"/>
            <a:endCxn id="11" idx="0"/>
          </p:cNvCxnSpPr>
          <p:nvPr/>
        </p:nvCxnSpPr>
        <p:spPr>
          <a:xfrm>
            <a:off x="5001906" y="4940246"/>
            <a:ext cx="0" cy="970409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sp>
        <p:nvSpPr>
          <p:cNvPr id="20" name="HTTPS"/>
          <p:cNvSpPr/>
          <p:nvPr/>
        </p:nvSpPr>
        <p:spPr>
          <a:xfrm>
            <a:off x="5822540" y="1385594"/>
            <a:ext cx="484313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HTTPS</a:t>
            </a:r>
          </a:p>
        </p:txBody>
      </p:sp>
      <p:sp>
        <p:nvSpPr>
          <p:cNvPr id="21" name="書き込み"/>
          <p:cNvSpPr/>
          <p:nvPr/>
        </p:nvSpPr>
        <p:spPr>
          <a:xfrm>
            <a:off x="4350740" y="3788137"/>
            <a:ext cx="644959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書き込み</a:t>
            </a:r>
          </a:p>
        </p:txBody>
      </p:sp>
      <p:sp>
        <p:nvSpPr>
          <p:cNvPr id="22" name="書き込み"/>
          <p:cNvSpPr/>
          <p:nvPr/>
        </p:nvSpPr>
        <p:spPr>
          <a:xfrm>
            <a:off x="5382227" y="3788137"/>
            <a:ext cx="644959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書き込み</a:t>
            </a:r>
          </a:p>
        </p:txBody>
      </p:sp>
      <p:sp>
        <p:nvSpPr>
          <p:cNvPr id="23" name="キャッシュ"/>
          <p:cNvSpPr/>
          <p:nvPr/>
        </p:nvSpPr>
        <p:spPr>
          <a:xfrm>
            <a:off x="6032087" y="3788137"/>
            <a:ext cx="785198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キャッシュ</a:t>
            </a:r>
          </a:p>
        </p:txBody>
      </p:sp>
      <p:sp>
        <p:nvSpPr>
          <p:cNvPr id="24" name="キャッシュ"/>
          <p:cNvSpPr/>
          <p:nvPr/>
        </p:nvSpPr>
        <p:spPr>
          <a:xfrm>
            <a:off x="7126181" y="3788137"/>
            <a:ext cx="785198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キャッシュ</a:t>
            </a:r>
          </a:p>
        </p:txBody>
      </p:sp>
      <p:sp>
        <p:nvSpPr>
          <p:cNvPr id="25" name="日次"/>
          <p:cNvSpPr/>
          <p:nvPr/>
        </p:nvSpPr>
        <p:spPr>
          <a:xfrm>
            <a:off x="4819666" y="5511535"/>
            <a:ext cx="364479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950">
                <a:solidFill>
                  <a:srgbClr val="333333"/>
                </a:solidFill>
                <a:latin typeface="Noto Sans JP"/>
                <a:ea typeface="Noto Sans JP"/>
              </a:rPr>
              <a:t>日次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